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6" r:id="rId4"/>
    <p:sldId id="258" r:id="rId5"/>
    <p:sldId id="278" r:id="rId6"/>
    <p:sldId id="283" r:id="rId7"/>
    <p:sldId id="305" r:id="rId8"/>
    <p:sldId id="297" r:id="rId9"/>
    <p:sldId id="296" r:id="rId10"/>
    <p:sldId id="299" r:id="rId11"/>
    <p:sldId id="298" r:id="rId12"/>
    <p:sldId id="300" r:id="rId13"/>
    <p:sldId id="301" r:id="rId14"/>
    <p:sldId id="306" r:id="rId15"/>
    <p:sldId id="303" r:id="rId16"/>
    <p:sldId id="304" r:id="rId17"/>
    <p:sldId id="295" r:id="rId18"/>
    <p:sldId id="281" r:id="rId19"/>
    <p:sldId id="282" r:id="rId20"/>
    <p:sldId id="276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b87c48cf07b792d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0" autoAdjust="0"/>
    <p:restoredTop sz="61824" autoAdjust="0"/>
  </p:normalViewPr>
  <p:slideViewPr>
    <p:cSldViewPr snapToGrid="0">
      <p:cViewPr varScale="1">
        <p:scale>
          <a:sx n="74" d="100"/>
          <a:sy n="74" d="100"/>
        </p:scale>
        <p:origin x="4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B42EA-9E9E-482E-857C-50E7F5F74F2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C565-26FC-4AE9-BDDB-165DEF158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4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548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86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00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1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56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BAD1-E87B-116B-09A4-9F8FBA6B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E1202-33C4-92DB-2FBD-347ED8440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34C0D-8CFD-8A50-08AC-87499E6BC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620CF-19D3-818D-8115-90EF8E6A5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4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D26A-917D-BAA8-F446-3654266A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0642E-A892-428A-5950-801A3FFCA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3E66E-3B1C-163F-85D8-B0D85A833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8C7D6-8FEB-69DE-5BF3-3496B9F97F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9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F953-5C1F-FAB1-83F1-07699800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87956-84E0-B0C1-DEED-88344CB25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CFFC5-10CA-50D8-0594-8D6DDF3A4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0CB19-45CD-16F2-AF38-413F821D1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04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08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19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93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8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6040-2F92-4E28-B3BD-58926CEB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510B-C052-471F-A3F3-E9FD022F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15A9-A114-46C6-A187-6BBCEB62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8E68-9F8A-4A9F-AF12-BDFDC2004E9F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7855-57EA-4B15-9984-0B57F27E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C9BC-5BD4-4C7C-A311-AB4217B2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7C-7216-4376-B385-DB931678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22A7-1393-4BA5-A933-17F8AEB3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F8AA-2A0D-4BE4-913A-D1A8B9A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C79B-3A48-4611-892A-9DE79C0A0192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1D70-AB7B-47B3-B420-B79B2C8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C80F-4A35-4562-A2F8-3D2AA372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F29A-3C0F-4A4D-92D2-CFF499B8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B75-107C-4A85-826C-74C80C25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B0DD-9D87-4E65-918F-06D006A4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5FC4-D370-464B-A06E-457ECAD69E84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D14-E4B8-406D-B8EF-E1A51CB2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E01-4639-4478-A176-0576DBC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E2A-4B31-4299-91EB-40709CE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92E-191C-4427-9BEB-530D4F70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735D-3608-49FD-ACC7-2D489B9A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09F2-283B-4A2B-B3EE-9A252B5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878-20FE-4C2E-8C78-A855FE095A7E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E50D-EFE9-40B0-9395-DE4CBF53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28B2-E0B7-4467-B7DB-7F848CD4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56C-339A-4367-8B26-982E8C36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3968-F16F-4DA0-B61C-88282843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ECA0-37FE-4F17-AA2E-C99A32B0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2D60-5E3C-444D-85FB-9382ACA0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20DAD-4985-4E0B-AF64-7EA2662ED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D354-F4CC-4695-BD68-654C81B1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3058-E3BB-4823-8762-5C6F89557C29}" type="datetime1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451A-8809-4C03-903A-E7EAE35C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FC9F4-CB4A-40CB-BFAA-931474E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BC0-99D2-4BA9-819C-441347B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B129-F293-4F47-9043-6FF00D26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5CFC-F4D1-42C5-A7C7-5B6E805C1581}" type="datetime1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4F72A-5779-43A4-B96B-89FF47B2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72D66-666F-4D0B-B731-97E04CD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AAF9-65F3-4683-82FE-9DB3822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0CF8-97C1-4599-A83F-07F9F35396C7}" type="datetime1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8E1D4-705D-4DA8-8479-0FEEE324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5F62-ACB3-4ED6-9666-F8C2D33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8633-BDFF-44E9-BA19-B07E623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19D1-056B-4C44-ABEC-218CBB76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90BEB-9B5D-4863-80B4-7F421CD5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8E5E8-D840-412D-97C1-CFC6BE64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94A-0A29-4E48-A241-F8D60086EA3C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671BC-A4B8-456B-B93B-C68E519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4C19D-0A70-4C8B-A873-E5B5C3B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5028-807E-4484-94A7-9E5604D8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DB926-3C30-4B65-8D30-FE4627B36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6963-48EC-45C6-AEC9-0ADCD038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8A5-A168-4CCF-A0B3-011DA783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C2AF-DE68-443B-B99D-8E826F1EAFAF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3B7C-F84E-41B8-9F25-9115512F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FCF0-DD0A-4AFC-8B1F-88B7B85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F96-4C31-4415-A9C8-9804340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A3F9-7214-4C74-B612-979465F2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ED4-6CDF-4E32-B617-CD2B7CB4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CB67-86B3-4C99-8FF8-3F5131B629A5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8C3C-F7FA-435F-8D19-C959906B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63C-DAEF-4020-9746-895AF96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A6405-20B0-4ACD-AA72-A324D32A3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78A3E-9557-44BA-872F-75D0EDBF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931E-44AF-4214-9626-CD07835B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0259-A48A-4813-9F2B-3CAD864A3794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9D04-FF45-4DE5-B291-6E2BF05F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6822-E7B3-4028-9EEA-28F85FE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1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62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4E711-2B5E-45F4-8A36-6C7E723B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21C4-2D13-492C-ACD4-143BA32F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368D-DA6D-4E3E-B64E-A50C390FB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A276-F727-4F7E-B9E2-A14FEA8FDA45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6A77-474B-409D-ADBA-5F602408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B593-3BAC-4EDE-A910-C9906DB4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93964" y="136524"/>
            <a:ext cx="11877963" cy="6584951"/>
          </a:xfrm>
          <a:prstGeom prst="rect">
            <a:avLst/>
          </a:prstGeom>
          <a:noFill/>
          <a:ln w="73025" cmpd="sng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27CA1D6-E331-4837-A4D1-D4D3907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51E69-D750-4B06-9064-0602566C3DCF}"/>
              </a:ext>
            </a:extLst>
          </p:cNvPr>
          <p:cNvSpPr txBox="1"/>
          <p:nvPr/>
        </p:nvSpPr>
        <p:spPr>
          <a:xfrm>
            <a:off x="193964" y="2006477"/>
            <a:ext cx="1184343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Department of Computer Science and Engineering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(Internet of Things &amp; Cyber Security Including Block Chain Technology)</a:t>
            </a:r>
          </a:p>
          <a:p>
            <a:pPr algn="ctr"/>
            <a:endParaRPr lang="en-US" sz="24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MAJOR PROJECT (BIC685)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PHASE 2 - PRESENTATION</a:t>
            </a:r>
          </a:p>
          <a:p>
            <a:pPr algn="ctr"/>
            <a:endParaRPr lang="en-US" sz="2400" b="1" dirty="0">
              <a:solidFill>
                <a:srgbClr val="C00000"/>
              </a:solidFill>
            </a:endParaRPr>
          </a:p>
          <a:p>
            <a:pPr algn="ctr">
              <a:defRPr sz="2200" b="1">
                <a:solidFill>
                  <a:srgbClr val="002060"/>
                </a:solidFill>
              </a:defRPr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/>
              <a:t>Automated threat investigation and reporting using SIEM assistant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-145969" y="5793608"/>
            <a:ext cx="7381757" cy="169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b="1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Harshith H Y                                :    1KS23IC022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299" y="357071"/>
            <a:ext cx="11095820" cy="1718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K S INSTITUTE OF TECHNOLOGY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  <a:p>
            <a:pPr lvl="0" algn="ctr">
              <a:spcBef>
                <a:spcPts val="95"/>
              </a:spcBef>
              <a:defRPr/>
            </a:pPr>
            <a:r>
              <a:rPr kumimoji="0" lang="en-IN" sz="16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(</a:t>
            </a:r>
            <a:r>
              <a:rPr lang="en-IN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 Autonomous Institution, Under VTU </a:t>
            </a:r>
            <a:r>
              <a:rPr kumimoji="0" lang="en-IN" sz="16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Approved by </a:t>
            </a:r>
            <a:r>
              <a:rPr kumimoji="0" lang="en-IN" sz="16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AICTE, </a:t>
            </a:r>
            <a:r>
              <a:rPr kumimoji="0" lang="en-IN" sz="16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Affiliated to VTU</a:t>
            </a:r>
            <a:r>
              <a:rPr lang="en-IN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)</a:t>
            </a:r>
            <a:endParaRPr kumimoji="0" lang="en-IN" b="1" i="0" u="none" strike="noStrike" kern="1200" cap="none" spc="-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Accredited by NBA (CSE, ECE), NACC A+ &amp;  QS I-Gauge </a:t>
            </a:r>
            <a:r>
              <a:rPr kumimoji="0" lang="en-IN" b="1" i="0" u="none" strike="noStrike" kern="1200" cap="none" spc="-5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(Gold)</a:t>
            </a:r>
          </a:p>
          <a:p>
            <a:pPr marL="508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No.14, </a:t>
            </a:r>
            <a:r>
              <a:rPr kumimoji="0" lang="en-I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Raghuvanahalli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, </a:t>
            </a:r>
            <a:r>
              <a:rPr kumimoji="0" lang="en-I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Kanakapura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 Main Road, Bengaluru - 560109</a:t>
            </a:r>
            <a:r>
              <a:rPr kumimoji="0" lang="en-IN" sz="1600" b="1" i="0" u="none" strike="noStrike" kern="1200" cap="none" spc="-5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,</a:t>
            </a:r>
            <a:r>
              <a:rPr kumimoji="0" lang="en-IN" sz="1600" b="1" i="0" u="none" strike="noStrike" kern="1200" cap="none" spc="-7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 </a:t>
            </a:r>
            <a:r>
              <a:rPr kumimoji="0" lang="en-IN" sz="1600" b="1" i="0" u="none" strike="noStrike" kern="1200" cap="none" spc="-5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/>
              </a:rPr>
              <a:t>INDIA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Bookman Old Style" panose="02050604050505020204" pitchFamily="18" charset="0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Bookman Old Style" panose="02050604050505020204" pitchFamily="18" charset="0"/>
              </a:rPr>
              <a:t>Phone : 080-28435722, 080-28435724, Fax : 080-28435723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-145969" y="5109417"/>
            <a:ext cx="7381757" cy="169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NAME                                                  USN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 b="1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Amogh K N                                  :    1KS23IC005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Deepak M                                    :    1KS23IC016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Dhanush B R                               :    1KS23IC018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155D686C-0E82-4440-BF54-4D09A319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4" y="357071"/>
            <a:ext cx="1593676" cy="15936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b="9980"/>
          <a:stretch/>
        </p:blipFill>
        <p:spPr>
          <a:xfrm>
            <a:off x="10018815" y="278691"/>
            <a:ext cx="2004201" cy="1732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31919" y="5304756"/>
            <a:ext cx="3632200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PROJECT GUIDE :</a:t>
            </a:r>
          </a:p>
          <a:p>
            <a:pPr algn="ctr"/>
            <a:r>
              <a:rPr lang="en-IN" b="1" dirty="0">
                <a:latin typeface="Bookman Old Style" panose="02050604050505020204" pitchFamily="18" charset="0"/>
              </a:rPr>
              <a:t>Rajashree B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8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607" y="1310640"/>
            <a:ext cx="9449116" cy="5410835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Dataset / Input Details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Module Design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Work Completed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Current Progress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Work Plan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Timeline (Gantt Chart)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227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301653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64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9EB9C7-781C-94BA-EEC5-0E06B96AD92C}"/>
              </a:ext>
            </a:extLst>
          </p:cNvPr>
          <p:cNvSpPr txBox="1"/>
          <p:nvPr/>
        </p:nvSpPr>
        <p:spPr>
          <a:xfrm>
            <a:off x="536107" y="1969276"/>
            <a:ext cx="106326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SIEM systems such as the ELK Stack</a:t>
            </a:r>
            <a:r>
              <a:rPr lang="en-US" dirty="0"/>
              <a:t> are widely used for </a:t>
            </a:r>
            <a:r>
              <a:rPr lang="en-US" b="1" dirty="0"/>
              <a:t>log collection, monitoring, and threat detection</a:t>
            </a:r>
            <a:r>
              <a:rPr lang="en-US" dirty="0"/>
              <a:t> in modern organizations. However, these systems often require users to have knowledge of </a:t>
            </a:r>
            <a:r>
              <a:rPr lang="en-US" b="1" dirty="0"/>
              <a:t>complex query languages like KQL or Lucene</a:t>
            </a:r>
            <a:r>
              <a:rPr lang="en-US" dirty="0"/>
              <a:t> to search and analyze security logs effectively. This creates difficulties for </a:t>
            </a:r>
            <a:r>
              <a:rPr lang="en-US" b="1" dirty="0"/>
              <a:t>beginners</a:t>
            </a:r>
            <a:r>
              <a:rPr lang="en-US" dirty="0"/>
              <a:t> and can also be </a:t>
            </a:r>
            <a:r>
              <a:rPr lang="en-US" b="1" dirty="0"/>
              <a:t>time-consuming for experienced analysts</a:t>
            </a:r>
            <a:r>
              <a:rPr lang="en-US" dirty="0"/>
              <a:t>. In many cases, </a:t>
            </a:r>
            <a:r>
              <a:rPr lang="en-US" b="1" dirty="0"/>
              <a:t>threat investigation still depends on manual log analysis, event correlation, and report generation</a:t>
            </a:r>
            <a:r>
              <a:rPr lang="en-US" dirty="0"/>
              <a:t>. These </a:t>
            </a:r>
            <a:r>
              <a:rPr lang="en-US" b="1" dirty="0"/>
              <a:t>manual processes increase workload</a:t>
            </a:r>
            <a:r>
              <a:rPr lang="en-US" dirty="0"/>
              <a:t> and </a:t>
            </a:r>
            <a:r>
              <a:rPr lang="en-US" b="1" dirty="0"/>
              <a:t>delay incident response time</a:t>
            </a:r>
            <a:r>
              <a:rPr lang="en-US" dirty="0"/>
              <a:t>. Therefore, there is a growing need for a </a:t>
            </a:r>
            <a:r>
              <a:rPr lang="en-US" b="1" dirty="0"/>
              <a:t>Conversational SIEM Assistant</a:t>
            </a:r>
            <a:r>
              <a:rPr lang="en-US" dirty="0"/>
              <a:t> that uses </a:t>
            </a:r>
            <a:r>
              <a:rPr lang="en-US" b="1" dirty="0"/>
              <a:t>Natural Language Processing (NLP)</a:t>
            </a:r>
            <a:r>
              <a:rPr lang="en-US" dirty="0"/>
              <a:t> to enable users to interact using </a:t>
            </a:r>
            <a:r>
              <a:rPr lang="en-US" b="1" dirty="0"/>
              <a:t>simple natural language queries</a:t>
            </a:r>
            <a:r>
              <a:rPr lang="en-US" dirty="0"/>
              <a:t>. The proposed system aims to </a:t>
            </a:r>
            <a:r>
              <a:rPr lang="en-US" b="1" dirty="0"/>
              <a:t>automate log analysis</a:t>
            </a:r>
            <a:r>
              <a:rPr lang="en-US" dirty="0"/>
              <a:t>, </a:t>
            </a:r>
            <a:r>
              <a:rPr lang="en-US" b="1" dirty="0"/>
              <a:t>simplify threat investigation</a:t>
            </a:r>
            <a:r>
              <a:rPr lang="en-US" dirty="0"/>
              <a:t>, and </a:t>
            </a:r>
            <a:r>
              <a:rPr lang="en-US" b="1" dirty="0"/>
              <a:t>generate structured threat reports efficiently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05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07" y="283463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Objectives 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889" y="1530093"/>
            <a:ext cx="112498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Intent and Entity Recognition using Advanced NLP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AI-Based Threat Detection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Intelligent Threat Correlation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Detailed and Dynamic Report Generation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Context-Aware Multi-Turn Conversations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292128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Literature Survey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1401288" y="-772150"/>
            <a:ext cx="7742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DE0D05-DFD6-F064-22A9-C4996DE34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89" y="1390312"/>
            <a:ext cx="11347400" cy="49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8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292128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Literature Survey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119F97-EF52-622C-C5EE-07F65B3CB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88" y="1429338"/>
            <a:ext cx="11332409" cy="492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5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292128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Literature Survey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graphicFrame>
        <p:nvGraphicFramePr>
          <p:cNvPr id="20" name="Literature Survey Table 3"/>
          <p:cNvGraphicFramePr>
            <a:graphicFrameLocks noGrp="1"/>
          </p:cNvGraphicFramePr>
          <p:nvPr/>
        </p:nvGraphicFramePr>
        <p:xfrm>
          <a:off x="404888" y="1429338"/>
          <a:ext cx="11332409" cy="492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8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S.No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Author(s)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Year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Method Used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Findings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Bookman Old Style" panose="02050604050505020204" pitchFamily="18" charset="0"/>
                        </a:rPr>
                        <a:t>Limitations</a:t>
                      </a:r>
                    </a:p>
                  </a:txBody>
                  <a:tcPr marL="45720" marR="45720" marT="22860" marB="22860" anchor="ctr"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Ferrag et al.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2025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LLM applications review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Comprehensive review of LLM use in cybersecurity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Survey-based, no original implementation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Dai et al.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2025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Threat-knowledge-augmented LLM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Automated attack investigation with improved accuracy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High computational cost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13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Sahaya et al.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2026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LLM-enabled policy-guided framework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Improved SOC triage efficiency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Tied to Splunk ecosystem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Moussa et al.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2014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XML schema-based minification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Reduced data transmission overhead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Outdated, cloud-specific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402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Zhang et al.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2025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Systematic literature review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Identifies LLM opportunities and risks in cybersecurity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Bookman Old Style" panose="02050604050505020204" pitchFamily="18" charset="0"/>
                        </a:rPr>
                        <a:t>No original experimentation</a:t>
                      </a:r>
                    </a:p>
                  </a:txBody>
                  <a:tcPr marL="45720" marR="45720" marT="22860" marB="22860"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5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D6EF-3604-9EEF-216F-1F8F0CEA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327">
            <a:extLst>
              <a:ext uri="{FF2B5EF4-FFF2-40B4-BE49-F238E27FC236}">
                <a16:creationId xmlns:a16="http://schemas.microsoft.com/office/drawing/2014/main" id="{C722ACB2-5249-470E-E8E3-D10B1F9D675D}"/>
              </a:ext>
            </a:extLst>
          </p:cNvPr>
          <p:cNvSpPr/>
          <p:nvPr/>
        </p:nvSpPr>
        <p:spPr>
          <a:xfrm>
            <a:off x="1508760" y="49880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DE42F5A-51EE-C414-E7C3-FFFCA0CD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147" y="223418"/>
            <a:ext cx="9199983" cy="608052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PROPOSED METHODOLOGY 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65D29B-5EA5-D5E7-076A-A2EA9E323206}"/>
              </a:ext>
            </a:extLst>
          </p:cNvPr>
          <p:cNvSpPr/>
          <p:nvPr/>
        </p:nvSpPr>
        <p:spPr>
          <a:xfrm>
            <a:off x="0" y="0"/>
            <a:ext cx="12191999" cy="6814347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23847-9F52-08D7-4B09-4EBCB41A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6" name="AutoShape 2" descr="Low-Earth-Orbit Satellites Go Low With ...">
            <a:extLst>
              <a:ext uri="{FF2B5EF4-FFF2-40B4-BE49-F238E27FC236}">
                <a16:creationId xmlns:a16="http://schemas.microsoft.com/office/drawing/2014/main" id="{95CC5C13-15C3-544C-8B3B-D9CF40891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2FAA7A-9A81-DD08-0E4F-D2ADFC04F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74883"/>
            <a:ext cx="931194" cy="82122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E16684-B425-7ECE-17BB-37102D1D0E89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7CE636-7768-1D3D-9936-C4D0C94E53F5}"/>
              </a:ext>
            </a:extLst>
          </p:cNvPr>
          <p:cNvSpPr txBox="1"/>
          <p:nvPr/>
        </p:nvSpPr>
        <p:spPr>
          <a:xfrm>
            <a:off x="429768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BEDC9C6-0AD4-9DA9-AD37-387C87439981}"/>
              </a:ext>
            </a:extLst>
          </p:cNvPr>
          <p:cNvSpPr txBox="1"/>
          <p:nvPr/>
        </p:nvSpPr>
        <p:spPr>
          <a:xfrm>
            <a:off x="429034" y="1323289"/>
            <a:ext cx="18473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29BBB2AA-18E3-E18C-EACB-D74CD6057079}"/>
              </a:ext>
            </a:extLst>
          </p:cNvPr>
          <p:cNvSpPr txBox="1"/>
          <p:nvPr/>
        </p:nvSpPr>
        <p:spPr>
          <a:xfrm>
            <a:off x="9557886" y="39924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9DCD63B-7010-4781-9E2D-50471948038D}"/>
              </a:ext>
            </a:extLst>
          </p:cNvPr>
          <p:cNvSpPr txBox="1"/>
          <p:nvPr/>
        </p:nvSpPr>
        <p:spPr>
          <a:xfrm>
            <a:off x="9710286" y="41448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569846E-5770-FACE-D4F9-CF38619A0860}"/>
              </a:ext>
            </a:extLst>
          </p:cNvPr>
          <p:cNvSpPr txBox="1"/>
          <p:nvPr/>
        </p:nvSpPr>
        <p:spPr>
          <a:xfrm>
            <a:off x="9862686" y="42972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BCE622E-EF87-5B04-F578-7E28883B0E43}"/>
              </a:ext>
            </a:extLst>
          </p:cNvPr>
          <p:cNvSpPr txBox="1"/>
          <p:nvPr/>
        </p:nvSpPr>
        <p:spPr>
          <a:xfrm>
            <a:off x="10015086" y="44496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F55A2C8-8ABF-4F04-B2C4-487A64AF225F}"/>
              </a:ext>
            </a:extLst>
          </p:cNvPr>
          <p:cNvSpPr txBox="1"/>
          <p:nvPr/>
        </p:nvSpPr>
        <p:spPr>
          <a:xfrm>
            <a:off x="10167486" y="46020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7F964B6A-70FD-FB18-DCCF-3B3B697AB6DC}"/>
              </a:ext>
            </a:extLst>
          </p:cNvPr>
          <p:cNvSpPr txBox="1"/>
          <p:nvPr/>
        </p:nvSpPr>
        <p:spPr>
          <a:xfrm>
            <a:off x="10319886" y="475448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E8670F7B-4AD4-5AD1-8003-DDFCC3AD03F4}"/>
              </a:ext>
            </a:extLst>
          </p:cNvPr>
          <p:cNvSpPr txBox="1"/>
          <p:nvPr/>
        </p:nvSpPr>
        <p:spPr>
          <a:xfrm>
            <a:off x="5273040" y="411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5FE105D5-C063-8321-FC5B-802178D47891}"/>
              </a:ext>
            </a:extLst>
          </p:cNvPr>
          <p:cNvSpPr/>
          <p:nvPr/>
        </p:nvSpPr>
        <p:spPr>
          <a:xfrm>
            <a:off x="365760" y="6583680"/>
            <a:ext cx="11430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E87E7FF8-6C1A-47C3-E12B-2FED540219F9}"/>
              </a:ext>
            </a:extLst>
          </p:cNvPr>
          <p:cNvSpPr/>
          <p:nvPr/>
        </p:nvSpPr>
        <p:spPr>
          <a:xfrm>
            <a:off x="365760" y="9875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5044E7A-E50B-D874-5856-4DC8F066451B}"/>
              </a:ext>
            </a:extLst>
          </p:cNvPr>
          <p:cNvSpPr txBox="1"/>
          <p:nvPr/>
        </p:nvSpPr>
        <p:spPr>
          <a:xfrm>
            <a:off x="388620" y="11704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090050D4-62E6-6C92-F4D9-9E8EA7642BA8}"/>
              </a:ext>
            </a:extLst>
          </p:cNvPr>
          <p:cNvSpPr/>
          <p:nvPr/>
        </p:nvSpPr>
        <p:spPr>
          <a:xfrm>
            <a:off x="1508760" y="9875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715D5550-D2CA-E293-BBEA-64CDDD415580}"/>
              </a:ext>
            </a:extLst>
          </p:cNvPr>
          <p:cNvSpPr txBox="1"/>
          <p:nvPr/>
        </p:nvSpPr>
        <p:spPr>
          <a:xfrm>
            <a:off x="1627632" y="10424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User Query Input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A711339B-7B5C-2586-5FFD-B52FD7305B18}"/>
              </a:ext>
            </a:extLst>
          </p:cNvPr>
          <p:cNvSpPr txBox="1"/>
          <p:nvPr/>
        </p:nvSpPr>
        <p:spPr>
          <a:xfrm>
            <a:off x="1627632" y="13167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Analyst types a natural language query in Copilot Chat (e.g. 'Investigate ransomware from 45.33.32.156').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446C55C-232D-B373-062C-12C62F2944BE}"/>
              </a:ext>
            </a:extLst>
          </p:cNvPr>
          <p:cNvSpPr/>
          <p:nvPr/>
        </p:nvSpPr>
        <p:spPr>
          <a:xfrm>
            <a:off x="365760" y="17876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D03AD84-86EC-C3DF-83D5-BA40DEC84316}"/>
              </a:ext>
            </a:extLst>
          </p:cNvPr>
          <p:cNvSpPr txBox="1"/>
          <p:nvPr/>
        </p:nvSpPr>
        <p:spPr>
          <a:xfrm>
            <a:off x="365760" y="19522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9DAF086E-F64A-1A8B-86D1-7D74AA79371F}"/>
              </a:ext>
            </a:extLst>
          </p:cNvPr>
          <p:cNvSpPr/>
          <p:nvPr/>
        </p:nvSpPr>
        <p:spPr>
          <a:xfrm>
            <a:off x="1508760" y="17876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59312B7-B53B-20D4-3A27-E9064C968FF3}"/>
              </a:ext>
            </a:extLst>
          </p:cNvPr>
          <p:cNvSpPr txBox="1"/>
          <p:nvPr/>
        </p:nvSpPr>
        <p:spPr>
          <a:xfrm>
            <a:off x="1627632" y="18425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NLP Processing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2C7D7861-5B5B-48A8-3B94-E10D8E10C040}"/>
              </a:ext>
            </a:extLst>
          </p:cNvPr>
          <p:cNvSpPr txBox="1"/>
          <p:nvPr/>
        </p:nvSpPr>
        <p:spPr>
          <a:xfrm>
            <a:off x="1627632" y="21168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Intent classification (GPT-4 / Regex fallback) + entity extraction: IP, hash, user, domain, CVE, timeframe.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3D623A6-AC58-69DB-C0A2-96464C273635}"/>
              </a:ext>
            </a:extLst>
          </p:cNvPr>
          <p:cNvSpPr/>
          <p:nvPr/>
        </p:nvSpPr>
        <p:spPr>
          <a:xfrm>
            <a:off x="365760" y="25877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EDE91DBE-2AAA-2641-77C1-955A2A28C48B}"/>
              </a:ext>
            </a:extLst>
          </p:cNvPr>
          <p:cNvSpPr txBox="1"/>
          <p:nvPr/>
        </p:nvSpPr>
        <p:spPr>
          <a:xfrm>
            <a:off x="365760" y="27523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2921C9E-177A-CE88-911E-C9E8352A8F30}"/>
              </a:ext>
            </a:extLst>
          </p:cNvPr>
          <p:cNvSpPr/>
          <p:nvPr/>
        </p:nvSpPr>
        <p:spPr>
          <a:xfrm>
            <a:off x="1508760" y="25877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9AB15E0A-055B-BAEA-84C8-9ABC97A3C690}"/>
              </a:ext>
            </a:extLst>
          </p:cNvPr>
          <p:cNvSpPr txBox="1"/>
          <p:nvPr/>
        </p:nvSpPr>
        <p:spPr>
          <a:xfrm>
            <a:off x="1627632" y="26426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3A6B"/>
                </a:solidFill>
              </a:rPr>
              <a:t>Context Resolution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C1FEA7FC-A28D-17A4-0C1F-FBFB658AC4AE}"/>
              </a:ext>
            </a:extLst>
          </p:cNvPr>
          <p:cNvSpPr txBox="1"/>
          <p:nvPr/>
        </p:nvSpPr>
        <p:spPr>
          <a:xfrm>
            <a:off x="1627632" y="29169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Redis session manager resolves pronouns and references from conversation history (last 10 turns).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E23D9F31-33B1-5091-B005-37907D65F1FD}"/>
              </a:ext>
            </a:extLst>
          </p:cNvPr>
          <p:cNvSpPr/>
          <p:nvPr/>
        </p:nvSpPr>
        <p:spPr>
          <a:xfrm>
            <a:off x="365760" y="33878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6AF88207-F765-CBEC-7F84-A1B794A536CE}"/>
              </a:ext>
            </a:extLst>
          </p:cNvPr>
          <p:cNvSpPr txBox="1"/>
          <p:nvPr/>
        </p:nvSpPr>
        <p:spPr>
          <a:xfrm>
            <a:off x="365760" y="35524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E8737CF-A786-029E-88AE-575453B881F7}"/>
              </a:ext>
            </a:extLst>
          </p:cNvPr>
          <p:cNvSpPr/>
          <p:nvPr/>
        </p:nvSpPr>
        <p:spPr>
          <a:xfrm>
            <a:off x="1508760" y="33878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5594F1DE-C710-7699-C54B-71F87A880A20}"/>
              </a:ext>
            </a:extLst>
          </p:cNvPr>
          <p:cNvSpPr txBox="1"/>
          <p:nvPr/>
        </p:nvSpPr>
        <p:spPr>
          <a:xfrm>
            <a:off x="1627632" y="34427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SIEM Query Execution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643A426-73E4-A833-11D8-5581AC6D89DE}"/>
              </a:ext>
            </a:extLst>
          </p:cNvPr>
          <p:cNvSpPr txBox="1"/>
          <p:nvPr/>
        </p:nvSpPr>
        <p:spPr>
          <a:xfrm>
            <a:off x="1627632" y="37170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QueryTranslator generates platform-specific query (SPL / DSL / KQL / AQL / Mock). SIEM Connector executes and returns event results.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6A6876A2-6A4C-E54A-445B-70AD55912CC0}"/>
              </a:ext>
            </a:extLst>
          </p:cNvPr>
          <p:cNvSpPr/>
          <p:nvPr/>
        </p:nvSpPr>
        <p:spPr>
          <a:xfrm>
            <a:off x="365760" y="41879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D5779C6-390F-2A17-EAE2-3B9D50632F7C}"/>
              </a:ext>
            </a:extLst>
          </p:cNvPr>
          <p:cNvSpPr txBox="1"/>
          <p:nvPr/>
        </p:nvSpPr>
        <p:spPr>
          <a:xfrm>
            <a:off x="365760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073206C2-4B1A-2ED5-7F29-BED577405233}"/>
              </a:ext>
            </a:extLst>
          </p:cNvPr>
          <p:cNvSpPr/>
          <p:nvPr/>
        </p:nvSpPr>
        <p:spPr>
          <a:xfrm>
            <a:off x="1508760" y="41879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ECC9EDC-4576-CEDE-CADB-C356808A4710}"/>
              </a:ext>
            </a:extLst>
          </p:cNvPr>
          <p:cNvSpPr txBox="1"/>
          <p:nvPr/>
        </p:nvSpPr>
        <p:spPr>
          <a:xfrm>
            <a:off x="1627632" y="42428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Random Forest ML Analysis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F8F75EA-820D-456A-C1C3-36EB2B0F0B54}"/>
              </a:ext>
            </a:extLst>
          </p:cNvPr>
          <p:cNvSpPr txBox="1"/>
          <p:nvPr/>
        </p:nvSpPr>
        <p:spPr>
          <a:xfrm>
            <a:off x="1627632" y="45171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100-tree ensemble predicts malware family, severity, system risk score, and exploited CVE in under 4ms.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0C1758FD-49BB-4A20-4D29-1B0FE2FFB004}"/>
              </a:ext>
            </a:extLst>
          </p:cNvPr>
          <p:cNvSpPr/>
          <p:nvPr/>
        </p:nvSpPr>
        <p:spPr>
          <a:xfrm>
            <a:off x="365760" y="49880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6B754E3-44D1-434A-9985-E2F9C9F93C4A}"/>
              </a:ext>
            </a:extLst>
          </p:cNvPr>
          <p:cNvSpPr txBox="1"/>
          <p:nvPr/>
        </p:nvSpPr>
        <p:spPr>
          <a:xfrm>
            <a:off x="365760" y="51526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3FDFCD7E-9A21-9536-3F64-644E785B9B9C}"/>
              </a:ext>
            </a:extLst>
          </p:cNvPr>
          <p:cNvSpPr txBox="1"/>
          <p:nvPr/>
        </p:nvSpPr>
        <p:spPr>
          <a:xfrm>
            <a:off x="1627632" y="50429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Playbook Orchestration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DDED16F-3FC9-D1B8-9AF8-DDF31A0C2D03}"/>
              </a:ext>
            </a:extLst>
          </p:cNvPr>
          <p:cNvSpPr txBox="1"/>
          <p:nvPr/>
        </p:nvSpPr>
        <p:spPr>
          <a:xfrm>
            <a:off x="1627632" y="53172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NetworkX DAG engine runs YAML playbooks: IOC extraction, enrichment (VirusTotal/AbuseIPDB), MITRE technique mapping.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96BDB87-145A-C9E0-3654-E6E7951B547B}"/>
              </a:ext>
            </a:extLst>
          </p:cNvPr>
          <p:cNvSpPr/>
          <p:nvPr/>
        </p:nvSpPr>
        <p:spPr>
          <a:xfrm>
            <a:off x="365760" y="5788152"/>
            <a:ext cx="109728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82C2C85F-E653-1060-4617-2D08BF6C3628}"/>
              </a:ext>
            </a:extLst>
          </p:cNvPr>
          <p:cNvSpPr txBox="1"/>
          <p:nvPr/>
        </p:nvSpPr>
        <p:spPr>
          <a:xfrm>
            <a:off x="365760" y="59527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D59951C2-7796-9D05-3CD0-EAF2363616F8}"/>
              </a:ext>
            </a:extLst>
          </p:cNvPr>
          <p:cNvSpPr/>
          <p:nvPr/>
        </p:nvSpPr>
        <p:spPr>
          <a:xfrm>
            <a:off x="1508760" y="5788152"/>
            <a:ext cx="1028700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56D735D1-31F2-EC37-9C63-2B38447775C9}"/>
              </a:ext>
            </a:extLst>
          </p:cNvPr>
          <p:cNvSpPr txBox="1"/>
          <p:nvPr/>
        </p:nvSpPr>
        <p:spPr>
          <a:xfrm>
            <a:off x="1627632" y="58430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Report Auto-Generation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13D5755A-6759-DE69-8F7F-93886607FFC6}"/>
              </a:ext>
            </a:extLst>
          </p:cNvPr>
          <p:cNvSpPr txBox="1"/>
          <p:nvPr/>
        </p:nvSpPr>
        <p:spPr>
          <a:xfrm>
            <a:off x="1627632" y="61173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Plain Text / HTML / PDF / JSON reports auto-saved to Incident &amp; Threat Reports store and localStorage.</a:t>
            </a:r>
          </a:p>
        </p:txBody>
      </p:sp>
    </p:spTree>
    <p:extLst>
      <p:ext uri="{BB962C8B-B14F-4D97-AF65-F5344CB8AC3E}">
        <p14:creationId xmlns:p14="http://schemas.microsoft.com/office/powerpoint/2010/main" val="1317619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CE3B-D7A0-6856-5FD9-9BDE910F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063088B-010E-8465-CE49-22E2D8F6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00" y="32272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Technology Stack</a:t>
            </a:r>
            <a:b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B41BBB-EA5D-2FA1-527E-06CE2247D194}"/>
              </a:ext>
            </a:extLst>
          </p:cNvPr>
          <p:cNvSpPr/>
          <p:nvPr/>
        </p:nvSpPr>
        <p:spPr>
          <a:xfrm>
            <a:off x="48985" y="7902"/>
            <a:ext cx="12066815" cy="6850098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utoShape 2" descr="Low-Earth-Orbit Satellites Go Low With ...">
            <a:extLst>
              <a:ext uri="{FF2B5EF4-FFF2-40B4-BE49-F238E27FC236}">
                <a16:creationId xmlns:a16="http://schemas.microsoft.com/office/drawing/2014/main" id="{065CC67E-B6D7-9E10-81AB-F0B5EBD6A7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1872DA-9C85-C300-CC0E-B6BF674D3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63961"/>
            <a:ext cx="782709" cy="81389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ABA62F-02AA-C59C-E637-F3BB2722BB2B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9DBDC-8E13-1797-4A79-4517ADD1C49A}"/>
              </a:ext>
            </a:extLst>
          </p:cNvPr>
          <p:cNvSpPr/>
          <p:nvPr/>
        </p:nvSpPr>
        <p:spPr>
          <a:xfrm>
            <a:off x="365760" y="6583680"/>
            <a:ext cx="11430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731307-7727-E303-7058-9969B7FE34FF}"/>
              </a:ext>
            </a:extLst>
          </p:cNvPr>
          <p:cNvSpPr/>
          <p:nvPr/>
        </p:nvSpPr>
        <p:spPr>
          <a:xfrm>
            <a:off x="274320" y="987552"/>
            <a:ext cx="2331720" cy="55778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82E317-CAA0-7045-0D5F-E39741DFE2F2}"/>
              </a:ext>
            </a:extLst>
          </p:cNvPr>
          <p:cNvSpPr txBox="1"/>
          <p:nvPr/>
        </p:nvSpPr>
        <p:spPr>
          <a:xfrm>
            <a:off x="365760" y="102412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Backend 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DAEA8A-AE3D-7EAB-0850-72401FBF7B53}"/>
              </a:ext>
            </a:extLst>
          </p:cNvPr>
          <p:cNvSpPr/>
          <p:nvPr/>
        </p:nvSpPr>
        <p:spPr>
          <a:xfrm>
            <a:off x="365760" y="1335024"/>
            <a:ext cx="11430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FB5ABF-CE78-677C-8BED-6FEEBD605352}"/>
              </a:ext>
            </a:extLst>
          </p:cNvPr>
          <p:cNvSpPr txBox="1"/>
          <p:nvPr/>
        </p:nvSpPr>
        <p:spPr>
          <a:xfrm>
            <a:off x="411479" y="13533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Python 3.11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AAF27F-4269-484B-8C5E-789F8A848C64}"/>
              </a:ext>
            </a:extLst>
          </p:cNvPr>
          <p:cNvSpPr txBox="1"/>
          <p:nvPr/>
        </p:nvSpPr>
        <p:spPr>
          <a:xfrm>
            <a:off x="411479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FastAPI + Uvicorn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AC66FC-8A1A-F197-0A2E-A3CE7DEB847E}"/>
              </a:ext>
            </a:extLst>
          </p:cNvPr>
          <p:cNvSpPr txBox="1"/>
          <p:nvPr/>
        </p:nvSpPr>
        <p:spPr>
          <a:xfrm>
            <a:off x="411479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SQLAlchemy 2.0 (Async)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F9FBC6-DA2F-713C-0BDE-49843939F8B5}"/>
              </a:ext>
            </a:extLst>
          </p:cNvPr>
          <p:cNvSpPr txBox="1"/>
          <p:nvPr/>
        </p:nvSpPr>
        <p:spPr>
          <a:xfrm>
            <a:off x="411479" y="29169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SQLite / PostgreSQL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25A00-7842-3863-09D9-4BD0530E3B98}"/>
              </a:ext>
            </a:extLst>
          </p:cNvPr>
          <p:cNvSpPr txBox="1"/>
          <p:nvPr/>
        </p:nvSpPr>
        <p:spPr>
          <a:xfrm>
            <a:off x="411479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Pydantic v2 Settings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24B957-C34C-38F1-AC47-F8840433F7A2}"/>
              </a:ext>
            </a:extLst>
          </p:cNvPr>
          <p:cNvSpPr txBox="1"/>
          <p:nvPr/>
        </p:nvSpPr>
        <p:spPr>
          <a:xfrm>
            <a:off x="411479" y="39593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python-jose (JWT Auth)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C6F7AD-3E25-61A1-F8B7-D0854D0881C2}"/>
              </a:ext>
            </a:extLst>
          </p:cNvPr>
          <p:cNvSpPr txBox="1"/>
          <p:nvPr/>
        </p:nvSpPr>
        <p:spPr>
          <a:xfrm>
            <a:off x="411479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passlib + bcrypt 4.0.1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3D40CF-2B16-FFE0-B125-605259B8C31D}"/>
              </a:ext>
            </a:extLst>
          </p:cNvPr>
          <p:cNvSpPr txBox="1"/>
          <p:nvPr/>
        </p:nvSpPr>
        <p:spPr>
          <a:xfrm>
            <a:off x="411479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Alembic Migrations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DC185A-3155-8305-9BEE-4E6A888D208E}"/>
              </a:ext>
            </a:extLst>
          </p:cNvPr>
          <p:cNvSpPr/>
          <p:nvPr/>
        </p:nvSpPr>
        <p:spPr>
          <a:xfrm>
            <a:off x="2651760" y="987552"/>
            <a:ext cx="2331720" cy="5819888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3C98DC-3DD6-7DFB-0E62-C97C20C4EFA2}"/>
              </a:ext>
            </a:extLst>
          </p:cNvPr>
          <p:cNvSpPr txBox="1"/>
          <p:nvPr/>
        </p:nvSpPr>
        <p:spPr>
          <a:xfrm>
            <a:off x="2743200" y="102412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Machine Learning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BE93F4-EA6B-22CD-23D3-C60E591F6D0D}"/>
              </a:ext>
            </a:extLst>
          </p:cNvPr>
          <p:cNvSpPr txBox="1"/>
          <p:nvPr/>
        </p:nvSpPr>
        <p:spPr>
          <a:xfrm>
            <a:off x="2788920" y="13533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scikit-learn 1.9.0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8F4F6F-8504-D932-BE9F-A7B332887F2B}"/>
              </a:ext>
            </a:extLst>
          </p:cNvPr>
          <p:cNvSpPr txBox="1"/>
          <p:nvPr/>
        </p:nvSpPr>
        <p:spPr>
          <a:xfrm>
            <a:off x="278892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RandomForestClassifier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F17A8A-C58D-A89D-4189-A660078BC5BA}"/>
              </a:ext>
            </a:extLst>
          </p:cNvPr>
          <p:cNvSpPr txBox="1"/>
          <p:nvPr/>
        </p:nvSpPr>
        <p:spPr>
          <a:xfrm>
            <a:off x="278892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RandomForestRegressor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471296-0579-1F8A-E0D9-4DF8C01CB01E}"/>
              </a:ext>
            </a:extLst>
          </p:cNvPr>
          <p:cNvSpPr txBox="1"/>
          <p:nvPr/>
        </p:nvSpPr>
        <p:spPr>
          <a:xfrm>
            <a:off x="2788920" y="29169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numpy 2.4.6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0546AD-2B5B-C7EC-B33A-4D04C40358C2}"/>
              </a:ext>
            </a:extLst>
          </p:cNvPr>
          <p:cNvSpPr txBox="1"/>
          <p:nvPr/>
        </p:nvSpPr>
        <p:spPr>
          <a:xfrm>
            <a:off x="2788920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pandas 3.0.5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51AC47-5F9E-EB0F-452B-A68BCDE474CE}"/>
              </a:ext>
            </a:extLst>
          </p:cNvPr>
          <p:cNvSpPr txBox="1"/>
          <p:nvPr/>
        </p:nvSpPr>
        <p:spPr>
          <a:xfrm>
            <a:off x="2788920" y="39593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scipy 1.17.1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006ED4-3348-3D74-E2C2-1C81017D2682}"/>
              </a:ext>
            </a:extLst>
          </p:cNvPr>
          <p:cNvSpPr txBox="1"/>
          <p:nvPr/>
        </p:nvSpPr>
        <p:spPr>
          <a:xfrm>
            <a:off x="278892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Gini Impurity Criterion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B3BEA0-E99B-6958-DAA0-A573AD7A7D9C}"/>
              </a:ext>
            </a:extLst>
          </p:cNvPr>
          <p:cNvSpPr txBox="1"/>
          <p:nvPr/>
        </p:nvSpPr>
        <p:spPr>
          <a:xfrm>
            <a:off x="2788920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- 100 Estimators Ensemble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A56022D-A30A-57C4-85E5-5A1D5D8FFFCE}"/>
              </a:ext>
            </a:extLst>
          </p:cNvPr>
          <p:cNvSpPr/>
          <p:nvPr/>
        </p:nvSpPr>
        <p:spPr>
          <a:xfrm>
            <a:off x="5029200" y="987552"/>
            <a:ext cx="2331720" cy="55778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9DC85E-73A5-E189-B9A6-F10418CBF9A8}"/>
              </a:ext>
            </a:extLst>
          </p:cNvPr>
          <p:cNvSpPr txBox="1"/>
          <p:nvPr/>
        </p:nvSpPr>
        <p:spPr>
          <a:xfrm>
            <a:off x="5120640" y="102412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NLP &amp; Orchestration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88E842-06F4-739C-5D10-98F4A4648B33}"/>
              </a:ext>
            </a:extLst>
          </p:cNvPr>
          <p:cNvSpPr txBox="1"/>
          <p:nvPr/>
        </p:nvSpPr>
        <p:spPr>
          <a:xfrm>
            <a:off x="5166360" y="13533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OpenAI GPT-4 (primary)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9E9605-B95E-845C-C02A-7D41C5183049}"/>
              </a:ext>
            </a:extLst>
          </p:cNvPr>
          <p:cNvSpPr txBox="1"/>
          <p:nvPr/>
        </p:nvSpPr>
        <p:spPr>
          <a:xfrm>
            <a:off x="516636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Regex NLP (fallback)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2C6C10-70B2-4A1B-98B8-C800C579B2B2}"/>
              </a:ext>
            </a:extLst>
          </p:cNvPr>
          <p:cNvSpPr txBox="1"/>
          <p:nvPr/>
        </p:nvSpPr>
        <p:spPr>
          <a:xfrm>
            <a:off x="516636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networkx (DAG engine)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CB4461-FF83-9911-10FE-CCA2AF03CAD4}"/>
              </a:ext>
            </a:extLst>
          </p:cNvPr>
          <p:cNvSpPr txBox="1"/>
          <p:nvPr/>
        </p:nvSpPr>
        <p:spPr>
          <a:xfrm>
            <a:off x="5166360" y="29169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PyYAML (playbooks)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5A17E1-31BB-3C02-EB81-2A551C9CE0A7}"/>
              </a:ext>
            </a:extLst>
          </p:cNvPr>
          <p:cNvSpPr txBox="1"/>
          <p:nvPr/>
        </p:nvSpPr>
        <p:spPr>
          <a:xfrm>
            <a:off x="5166360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Redis (session state)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CBB16D-A395-A5AC-314C-FF32CB341D9B}"/>
              </a:ext>
            </a:extLst>
          </p:cNvPr>
          <p:cNvSpPr txBox="1"/>
          <p:nvPr/>
        </p:nvSpPr>
        <p:spPr>
          <a:xfrm>
            <a:off x="5166360" y="39593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Celery (async tasks)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F0EBA2-1F37-CA59-9520-FAEAB8CA631C}"/>
              </a:ext>
            </a:extLst>
          </p:cNvPr>
          <p:cNvSpPr txBox="1"/>
          <p:nvPr/>
        </p:nvSpPr>
        <p:spPr>
          <a:xfrm>
            <a:off x="516636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httpx (API clients)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68263D-9FC4-F810-28C6-9F0498D38168}"/>
              </a:ext>
            </a:extLst>
          </p:cNvPr>
          <p:cNvSpPr txBox="1"/>
          <p:nvPr/>
        </p:nvSpPr>
        <p:spPr>
          <a:xfrm>
            <a:off x="5166360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Jinja2 (templates)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A71EF02-A2EC-3A0F-7B90-E8C554A30739}"/>
              </a:ext>
            </a:extLst>
          </p:cNvPr>
          <p:cNvSpPr/>
          <p:nvPr/>
        </p:nvSpPr>
        <p:spPr>
          <a:xfrm>
            <a:off x="7406640" y="987552"/>
            <a:ext cx="2331720" cy="55778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7EBA35-B7C4-4642-E2D9-825BDBE95C3E}"/>
              </a:ext>
            </a:extLst>
          </p:cNvPr>
          <p:cNvSpPr txBox="1"/>
          <p:nvPr/>
        </p:nvSpPr>
        <p:spPr>
          <a:xfrm>
            <a:off x="7498080" y="102412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Frontend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6B54223-E338-B87D-6000-0B8CD5075B89}"/>
              </a:ext>
            </a:extLst>
          </p:cNvPr>
          <p:cNvSpPr txBox="1"/>
          <p:nvPr/>
        </p:nvSpPr>
        <p:spPr>
          <a:xfrm>
            <a:off x="7543800" y="13533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React 18 + TypeScript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150863-4CFA-5AB8-579D-9F84A29A9032}"/>
              </a:ext>
            </a:extLst>
          </p:cNvPr>
          <p:cNvSpPr txBox="1"/>
          <p:nvPr/>
        </p:nvSpPr>
        <p:spPr>
          <a:xfrm>
            <a:off x="754380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Vite 5.4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BB15631-79F2-AC19-8E45-483E8C13AB46}"/>
              </a:ext>
            </a:extLst>
          </p:cNvPr>
          <p:cNvSpPr txBox="1"/>
          <p:nvPr/>
        </p:nvSpPr>
        <p:spPr>
          <a:xfrm>
            <a:off x="754380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Zustand (state mgmt)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10AC2BC-E20F-BB95-F332-F53FADE02F96}"/>
              </a:ext>
            </a:extLst>
          </p:cNvPr>
          <p:cNvSpPr txBox="1"/>
          <p:nvPr/>
        </p:nvSpPr>
        <p:spPr>
          <a:xfrm>
            <a:off x="7543800" y="29169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React Router v6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B49D4E3-51C4-4D38-7D98-3C32CFC76617}"/>
              </a:ext>
            </a:extLst>
          </p:cNvPr>
          <p:cNvSpPr txBox="1"/>
          <p:nvPr/>
        </p:nvSpPr>
        <p:spPr>
          <a:xfrm>
            <a:off x="7543800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Lucide React icons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E1556D-28A0-FB6F-4DB9-AC9548E54076}"/>
              </a:ext>
            </a:extLst>
          </p:cNvPr>
          <p:cNvSpPr txBox="1"/>
          <p:nvPr/>
        </p:nvSpPr>
        <p:spPr>
          <a:xfrm>
            <a:off x="7543800" y="39593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ReactMarkdown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AB3164-4E2E-BC86-AD36-C5E1AFFE5C8A}"/>
              </a:ext>
            </a:extLst>
          </p:cNvPr>
          <p:cNvSpPr txBox="1"/>
          <p:nvPr/>
        </p:nvSpPr>
        <p:spPr>
          <a:xfrm>
            <a:off x="754380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WebSocket real-time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2A6A9BC-4571-059B-4071-C03777002BBF}"/>
              </a:ext>
            </a:extLst>
          </p:cNvPr>
          <p:cNvSpPr txBox="1"/>
          <p:nvPr/>
        </p:nvSpPr>
        <p:spPr>
          <a:xfrm>
            <a:off x="7543800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localStorage persist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AD655B8-1DDA-891A-BD39-8D35417A48F9}"/>
              </a:ext>
            </a:extLst>
          </p:cNvPr>
          <p:cNvSpPr/>
          <p:nvPr/>
        </p:nvSpPr>
        <p:spPr>
          <a:xfrm>
            <a:off x="9784080" y="987552"/>
            <a:ext cx="2057399" cy="55778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F3AB6E3-3FBA-4F50-30DE-60B5787D3243}"/>
              </a:ext>
            </a:extLst>
          </p:cNvPr>
          <p:cNvSpPr txBox="1"/>
          <p:nvPr/>
        </p:nvSpPr>
        <p:spPr>
          <a:xfrm>
            <a:off x="9875520" y="102412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</a:rPr>
              <a:t>DevOps / Integrations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A453E7F-17B3-B975-3624-BB4C7C701017}"/>
              </a:ext>
            </a:extLst>
          </p:cNvPr>
          <p:cNvSpPr txBox="1"/>
          <p:nvPr/>
        </p:nvSpPr>
        <p:spPr>
          <a:xfrm>
            <a:off x="9921240" y="13533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Docker + Compose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26EF26E-A9B2-002F-990D-BF765A43C76D}"/>
              </a:ext>
            </a:extLst>
          </p:cNvPr>
          <p:cNvSpPr txBox="1"/>
          <p:nvPr/>
        </p:nvSpPr>
        <p:spPr>
          <a:xfrm>
            <a:off x="992124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Kubernetes Manifests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8C44980-BD6B-52EC-5AE5-86F1FEECB642}"/>
              </a:ext>
            </a:extLst>
          </p:cNvPr>
          <p:cNvSpPr txBox="1"/>
          <p:nvPr/>
        </p:nvSpPr>
        <p:spPr>
          <a:xfrm>
            <a:off x="9921240" y="2395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Nginx (frontend proxy)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83A4675-BEB6-EB68-05B7-13E30657B363}"/>
              </a:ext>
            </a:extLst>
          </p:cNvPr>
          <p:cNvSpPr txBox="1"/>
          <p:nvPr/>
        </p:nvSpPr>
        <p:spPr>
          <a:xfrm>
            <a:off x="9921240" y="29169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GitHub (version control)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325D0F0-3E6A-2DB0-36D2-8311928D3524}"/>
              </a:ext>
            </a:extLst>
          </p:cNvPr>
          <p:cNvSpPr txBox="1"/>
          <p:nvPr/>
        </p:nvSpPr>
        <p:spPr>
          <a:xfrm>
            <a:off x="9921240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python-pptx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F94D20F-C147-3A61-56BE-34F968378291}"/>
              </a:ext>
            </a:extLst>
          </p:cNvPr>
          <p:cNvSpPr txBox="1"/>
          <p:nvPr/>
        </p:nvSpPr>
        <p:spPr>
          <a:xfrm>
            <a:off x="9921240" y="39593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WeasyPrint (PDF)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093C5F9-2F47-09CC-00B4-0529605E5F35}"/>
              </a:ext>
            </a:extLst>
          </p:cNvPr>
          <p:cNvSpPr txBox="1"/>
          <p:nvPr/>
        </p:nvSpPr>
        <p:spPr>
          <a:xfrm>
            <a:off x="9921240" y="4480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VirusTotal API v3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7B78025-1BF7-3815-538D-940C08FB50A5}"/>
              </a:ext>
            </a:extLst>
          </p:cNvPr>
          <p:cNvSpPr txBox="1"/>
          <p:nvPr/>
        </p:nvSpPr>
        <p:spPr>
          <a:xfrm>
            <a:off x="9921240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- AbuseIPDB API v2</a:t>
            </a:r>
          </a:p>
        </p:txBody>
      </p:sp>
    </p:spTree>
    <p:extLst>
      <p:ext uri="{BB962C8B-B14F-4D97-AF65-F5344CB8AC3E}">
        <p14:creationId xmlns:p14="http://schemas.microsoft.com/office/powerpoint/2010/main" val="41093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65" y="109679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Dataset / Input Details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" y="-1"/>
            <a:ext cx="12192000" cy="6838997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8610600" y="7735872"/>
            <a:ext cx="2743200" cy="10967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889" y="1530093"/>
            <a:ext cx="11249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9003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44AE0C6-FDF3-4D98-2D81-85E4D0358A8E}"/>
              </a:ext>
            </a:extLst>
          </p:cNvPr>
          <p:cNvSpPr/>
          <p:nvPr/>
        </p:nvSpPr>
        <p:spPr>
          <a:xfrm>
            <a:off x="365760" y="987552"/>
            <a:ext cx="11457432" cy="224942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E5EFB-04E0-55E2-9CAA-52FAF24A8646}"/>
              </a:ext>
            </a:extLst>
          </p:cNvPr>
          <p:cNvSpPr txBox="1"/>
          <p:nvPr/>
        </p:nvSpPr>
        <p:spPr>
          <a:xfrm>
            <a:off x="502920" y="10515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Random Forest Training Dataset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C8E403-CD15-EFE3-1557-10C239C3ED67}"/>
              </a:ext>
            </a:extLst>
          </p:cNvPr>
          <p:cNvSpPr txBox="1"/>
          <p:nvPr/>
        </p:nvSpPr>
        <p:spPr>
          <a:xfrm>
            <a:off x="594360" y="1353312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600 synthetic security event samples x 10 numerical features per event.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253FA7-6C4E-6D6E-14EA-57E4DA7FE11C}"/>
              </a:ext>
            </a:extLst>
          </p:cNvPr>
          <p:cNvSpPr txBox="1"/>
          <p:nvPr/>
        </p:nvSpPr>
        <p:spPr>
          <a:xfrm>
            <a:off x="594360" y="1664208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Features: failed_logins, payload_size_kb, file_entropy, port_number, packet_rate,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9D7397-4D49-7599-5BAD-74E78A487082}"/>
              </a:ext>
            </a:extLst>
          </p:cNvPr>
          <p:cNvSpPr txBox="1"/>
          <p:nvPr/>
        </p:nvSpPr>
        <p:spPr>
          <a:xfrm>
            <a:off x="594360" y="1975104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        is_outbound_c2, privilege_level, has_encoded_cmd, ip_reputation_score, is_after_hours.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F55011-F229-D0EA-E854-422DC636810B}"/>
              </a:ext>
            </a:extLst>
          </p:cNvPr>
          <p:cNvSpPr txBox="1"/>
          <p:nvPr/>
        </p:nvSpPr>
        <p:spPr>
          <a:xfrm>
            <a:off x="594360" y="228600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Labels: Malware Family (5 classes) + Severity (4 classes) + CVE ID (5 classes).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BFC753-BC78-3668-FF76-0FA163C3FB16}"/>
              </a:ext>
            </a:extLst>
          </p:cNvPr>
          <p:cNvSpPr txBox="1"/>
          <p:nvPr/>
        </p:nvSpPr>
        <p:spPr>
          <a:xfrm>
            <a:off x="594360" y="2596896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Regression target: Attacked System Risk Score (0-100 continuous output).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1D2E32-6432-3166-A276-AD10F5BE36EA}"/>
              </a:ext>
            </a:extLst>
          </p:cNvPr>
          <p:cNvSpPr txBox="1"/>
          <p:nvPr/>
        </p:nvSpPr>
        <p:spPr>
          <a:xfrm>
            <a:off x="594360" y="2907792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Generated using NumPy seeded random distributions simulating real SOC telemetry.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82B2D33-3866-D047-AB33-E3522BD04DC8}"/>
              </a:ext>
            </a:extLst>
          </p:cNvPr>
          <p:cNvSpPr/>
          <p:nvPr/>
        </p:nvSpPr>
        <p:spPr>
          <a:xfrm>
            <a:off x="365760" y="3346704"/>
            <a:ext cx="11457432" cy="131673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781003E-0C5E-9BC9-122D-32B8A9549292}"/>
              </a:ext>
            </a:extLst>
          </p:cNvPr>
          <p:cNvSpPr txBox="1"/>
          <p:nvPr/>
        </p:nvSpPr>
        <p:spPr>
          <a:xfrm>
            <a:off x="502920" y="3410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Live SIEM Event Sources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B412E4A-2FEB-0BFB-011D-91AFEE9AC04C}"/>
              </a:ext>
            </a:extLst>
          </p:cNvPr>
          <p:cNvSpPr txBox="1"/>
          <p:nvPr/>
        </p:nvSpPr>
        <p:spPr>
          <a:xfrm>
            <a:off x="594360" y="3712464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</a:rPr>
              <a:t>Mock SIEM Adapter: 20+ synthetic event generators (brute force, phishing, lateral movement, malware).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07F3946-BB1A-B414-22F1-8D91473149AB}"/>
              </a:ext>
            </a:extLst>
          </p:cNvPr>
          <p:cNvSpPr txBox="1"/>
          <p:nvPr/>
        </p:nvSpPr>
        <p:spPr>
          <a:xfrm>
            <a:off x="594360" y="402336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Elasticsearch DSL Adapter, Splunk SPL Adapter, Sentinel KQL Stub, QRadar AQL Stub (configurable).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25C5BA5-825F-15EF-90C4-141171E91E2A}"/>
              </a:ext>
            </a:extLst>
          </p:cNvPr>
          <p:cNvSpPr txBox="1"/>
          <p:nvPr/>
        </p:nvSpPr>
        <p:spPr>
          <a:xfrm>
            <a:off x="594360" y="4334256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Real event features from: EDR logs, firewall syslog, Active Directory auth events, network flow records.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A55D646-C062-B2F6-E001-D50646204A1C}"/>
              </a:ext>
            </a:extLst>
          </p:cNvPr>
          <p:cNvSpPr/>
          <p:nvPr/>
        </p:nvSpPr>
        <p:spPr>
          <a:xfrm>
            <a:off x="365760" y="4773168"/>
            <a:ext cx="11323320" cy="180491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75EC6F5-B751-2B4C-AC7A-610CDD139E88}"/>
              </a:ext>
            </a:extLst>
          </p:cNvPr>
          <p:cNvSpPr txBox="1"/>
          <p:nvPr/>
        </p:nvSpPr>
        <p:spPr>
          <a:xfrm>
            <a:off x="502920" y="483717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Threat Intelligence Enrichment Feeds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F64D33A-ECFD-3A5D-EEB1-C460052DC42E}"/>
              </a:ext>
            </a:extLst>
          </p:cNvPr>
          <p:cNvSpPr txBox="1"/>
          <p:nvPr/>
        </p:nvSpPr>
        <p:spPr>
          <a:xfrm>
            <a:off x="594360" y="5138928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VirusTotal API v3: File hash reputation, URL scan, detection ratio (58/72 engines).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1E22634-915B-15EE-7733-8CF4C49F5BB6}"/>
              </a:ext>
            </a:extLst>
          </p:cNvPr>
          <p:cNvSpPr txBox="1"/>
          <p:nvPr/>
        </p:nvSpPr>
        <p:spPr>
          <a:xfrm>
            <a:off x="594360" y="5449824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AbuseIPDB API v2: IP reputation scoring (0-100 confidence score).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6776110-3D40-1943-95D4-C34A68EF0256}"/>
              </a:ext>
            </a:extLst>
          </p:cNvPr>
          <p:cNvSpPr txBox="1"/>
          <p:nvPr/>
        </p:nvSpPr>
        <p:spPr>
          <a:xfrm>
            <a:off x="594360" y="576072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MITRE ATT&amp;CK Navigator: 30+ TTP technique mappings (T1110, T1566, T1021, T1059, T1071).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9615C2-C1A3-955D-34E6-D3CF32166529}"/>
              </a:ext>
            </a:extLst>
          </p:cNvPr>
          <p:cNvSpPr txBox="1"/>
          <p:nvPr/>
        </p:nvSpPr>
        <p:spPr>
          <a:xfrm>
            <a:off x="594360" y="6071616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</a:rPr>
              <a:t>CVE Database: CVE-2024-30078 (CVSS 9.8), CVE-2024-21412 (CVSS 8.1), CVE-2023-38831 (CVSS 7.8),</a:t>
            </a: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ADE5-413A-05B0-767C-DAFCF7701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F402BD2-896F-B1A6-D1FA-5EEBF324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07" y="136526"/>
            <a:ext cx="9358840" cy="686388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MODULE DESIGN 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06BF79-EF3D-4FE9-E0FD-6A2A44303D75}"/>
              </a:ext>
            </a:extLst>
          </p:cNvPr>
          <p:cNvSpPr/>
          <p:nvPr/>
        </p:nvSpPr>
        <p:spPr>
          <a:xfrm>
            <a:off x="48985" y="0"/>
            <a:ext cx="12143015" cy="6858000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41A636-8D67-E7FE-DDE1-0950A8D2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6" name="AutoShape 2" descr="Low-Earth-Orbit Satellites Go Low With ...">
            <a:extLst>
              <a:ext uri="{FF2B5EF4-FFF2-40B4-BE49-F238E27FC236}">
                <a16:creationId xmlns:a16="http://schemas.microsoft.com/office/drawing/2014/main" id="{E23B621B-ED1F-C904-DFDB-98373497BA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464911-EB7B-7E48-E42B-CB17B7A50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3576"/>
            <a:ext cx="801607" cy="91778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F62957-750D-5323-3B5B-27CB27AB5B37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5BF20A-A317-009D-1C58-84CD1CF8833D}"/>
              </a:ext>
            </a:extLst>
          </p:cNvPr>
          <p:cNvSpPr/>
          <p:nvPr/>
        </p:nvSpPr>
        <p:spPr>
          <a:xfrm>
            <a:off x="365760" y="6583680"/>
            <a:ext cx="11430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AF6B9-816F-2A5E-3BA0-67AB071F0402}"/>
              </a:ext>
            </a:extLst>
          </p:cNvPr>
          <p:cNvSpPr/>
          <p:nvPr/>
        </p:nvSpPr>
        <p:spPr>
          <a:xfrm>
            <a:off x="365760" y="9875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A890B2-BBD4-19A8-433E-22EFA7C24B79}"/>
              </a:ext>
            </a:extLst>
          </p:cNvPr>
          <p:cNvSpPr txBox="1"/>
          <p:nvPr/>
        </p:nvSpPr>
        <p:spPr>
          <a:xfrm>
            <a:off x="365760" y="11704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7FE2C1-1672-8106-6315-96F73E014CC5}"/>
              </a:ext>
            </a:extLst>
          </p:cNvPr>
          <p:cNvSpPr/>
          <p:nvPr/>
        </p:nvSpPr>
        <p:spPr>
          <a:xfrm>
            <a:off x="1234440" y="9875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0E95FA-8071-9763-8DFC-6254918810B1}"/>
              </a:ext>
            </a:extLst>
          </p:cNvPr>
          <p:cNvSpPr txBox="1"/>
          <p:nvPr/>
        </p:nvSpPr>
        <p:spPr>
          <a:xfrm>
            <a:off x="1353312" y="10424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NLU Engine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28EB85-9670-7390-2699-EA573AEC04ED}"/>
              </a:ext>
            </a:extLst>
          </p:cNvPr>
          <p:cNvSpPr txBox="1"/>
          <p:nvPr/>
        </p:nvSpPr>
        <p:spPr>
          <a:xfrm>
            <a:off x="1353312" y="13350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Intent Classifier + Entity Extractor + Context Manager + Query Translator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80BAC8-9032-2EC7-ABCB-71FF76611829}"/>
              </a:ext>
            </a:extLst>
          </p:cNvPr>
          <p:cNvSpPr/>
          <p:nvPr/>
        </p:nvSpPr>
        <p:spPr>
          <a:xfrm>
            <a:off x="365760" y="17876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8DABE5-C5B0-18D7-932C-29D474461DE3}"/>
              </a:ext>
            </a:extLst>
          </p:cNvPr>
          <p:cNvSpPr txBox="1"/>
          <p:nvPr/>
        </p:nvSpPr>
        <p:spPr>
          <a:xfrm>
            <a:off x="365760" y="19705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85A7A2-3D86-A436-029D-1622F7198F08}"/>
              </a:ext>
            </a:extLst>
          </p:cNvPr>
          <p:cNvSpPr/>
          <p:nvPr/>
        </p:nvSpPr>
        <p:spPr>
          <a:xfrm>
            <a:off x="1234440" y="17876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035F1B-6BC0-8130-8C04-DDFFA133320F}"/>
              </a:ext>
            </a:extLst>
          </p:cNvPr>
          <p:cNvSpPr txBox="1"/>
          <p:nvPr/>
        </p:nvSpPr>
        <p:spPr>
          <a:xfrm>
            <a:off x="1353312" y="18425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SIEM Connector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77FE93-04B5-E998-5723-A9D70AE17B18}"/>
              </a:ext>
            </a:extLst>
          </p:cNvPr>
          <p:cNvSpPr txBox="1"/>
          <p:nvPr/>
        </p:nvSpPr>
        <p:spPr>
          <a:xfrm>
            <a:off x="1353312" y="21351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Abstract SIEMConnector -&gt; Mock / Elastic / Splunk / Sentinel / QRadar adapters + Query Sanitizer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F69CBA-171D-4898-48D3-A01735CF6B4F}"/>
              </a:ext>
            </a:extLst>
          </p:cNvPr>
          <p:cNvSpPr/>
          <p:nvPr/>
        </p:nvSpPr>
        <p:spPr>
          <a:xfrm>
            <a:off x="365760" y="25877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8115DC-508A-21AE-9D02-8B0BA70D5425}"/>
              </a:ext>
            </a:extLst>
          </p:cNvPr>
          <p:cNvSpPr txBox="1"/>
          <p:nvPr/>
        </p:nvSpPr>
        <p:spPr>
          <a:xfrm>
            <a:off x="365760" y="27706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9B0F64-AE4D-76A0-CCFC-87C39C522FED}"/>
              </a:ext>
            </a:extLst>
          </p:cNvPr>
          <p:cNvSpPr/>
          <p:nvPr/>
        </p:nvSpPr>
        <p:spPr>
          <a:xfrm>
            <a:off x="1234440" y="25877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F1D50A-39C7-E086-036D-9E5C072F0459}"/>
              </a:ext>
            </a:extLst>
          </p:cNvPr>
          <p:cNvSpPr txBox="1"/>
          <p:nvPr/>
        </p:nvSpPr>
        <p:spPr>
          <a:xfrm>
            <a:off x="1353312" y="26426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Random Forest ML Engine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F2ADBC-8E0C-7024-9630-8300610158E5}"/>
              </a:ext>
            </a:extLst>
          </p:cNvPr>
          <p:cNvSpPr txBox="1"/>
          <p:nvPr/>
        </p:nvSpPr>
        <p:spPr>
          <a:xfrm>
            <a:off x="1353312" y="29352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RandomForestClassifier (malware + severity) + RandomForestRegressor (risk 0-100) + Feature Extractor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7333AB-E392-D559-4899-022C13C75335}"/>
              </a:ext>
            </a:extLst>
          </p:cNvPr>
          <p:cNvSpPr/>
          <p:nvPr/>
        </p:nvSpPr>
        <p:spPr>
          <a:xfrm>
            <a:off x="365760" y="33878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C1EFFB-0B39-B7E2-86F5-D192F843AC00}"/>
              </a:ext>
            </a:extLst>
          </p:cNvPr>
          <p:cNvSpPr txBox="1"/>
          <p:nvPr/>
        </p:nvSpPr>
        <p:spPr>
          <a:xfrm>
            <a:off x="365760" y="35707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FBF4A8E-C765-7CCA-4FF0-842A9230DC46}"/>
              </a:ext>
            </a:extLst>
          </p:cNvPr>
          <p:cNvSpPr/>
          <p:nvPr/>
        </p:nvSpPr>
        <p:spPr>
          <a:xfrm>
            <a:off x="1234440" y="33878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E585C8-3D98-2E10-9A8B-0BE77CD3A61C}"/>
              </a:ext>
            </a:extLst>
          </p:cNvPr>
          <p:cNvSpPr txBox="1"/>
          <p:nvPr/>
        </p:nvSpPr>
        <p:spPr>
          <a:xfrm>
            <a:off x="1353312" y="34427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Playbook Orchestration Engine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408244-C0CB-8513-005B-3B3587581ABD}"/>
              </a:ext>
            </a:extLst>
          </p:cNvPr>
          <p:cNvSpPr txBox="1"/>
          <p:nvPr/>
        </p:nvSpPr>
        <p:spPr>
          <a:xfrm>
            <a:off x="1353312" y="37353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NetworkX DAG Engine + YAML Loader + Async Node Executor (Brute Force, Phishing, Malware, Lateral Movement)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506350-9392-0435-0BB8-EE08FD785D71}"/>
              </a:ext>
            </a:extLst>
          </p:cNvPr>
          <p:cNvSpPr/>
          <p:nvPr/>
        </p:nvSpPr>
        <p:spPr>
          <a:xfrm>
            <a:off x="365760" y="41879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C2B66B-B468-91F1-6191-C8F60FC9F4DB}"/>
              </a:ext>
            </a:extLst>
          </p:cNvPr>
          <p:cNvSpPr txBox="1"/>
          <p:nvPr/>
        </p:nvSpPr>
        <p:spPr>
          <a:xfrm>
            <a:off x="365760" y="43708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35FB453-4293-64E0-766C-80DE026250FA}"/>
              </a:ext>
            </a:extLst>
          </p:cNvPr>
          <p:cNvSpPr/>
          <p:nvPr/>
        </p:nvSpPr>
        <p:spPr>
          <a:xfrm>
            <a:off x="1234440" y="41879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28AE68-3F8F-1F95-5D6C-A2927CBEAD9D}"/>
              </a:ext>
            </a:extLst>
          </p:cNvPr>
          <p:cNvSpPr txBox="1"/>
          <p:nvPr/>
        </p:nvSpPr>
        <p:spPr>
          <a:xfrm>
            <a:off x="1353312" y="42428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Threat Intelligence Enrichment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D724DF-19F1-0E93-797D-202D54EB336D}"/>
              </a:ext>
            </a:extLst>
          </p:cNvPr>
          <p:cNvSpPr txBox="1"/>
          <p:nvPr/>
        </p:nvSpPr>
        <p:spPr>
          <a:xfrm>
            <a:off x="1353312" y="45354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VirusTotal v3 + AbuseIPDB v2 + Redis TTL Cache + Parallel Orchestrator -&gt; IOC enrichment pipeline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94A92F0-5E45-028F-6924-CA98896167EB}"/>
              </a:ext>
            </a:extLst>
          </p:cNvPr>
          <p:cNvSpPr/>
          <p:nvPr/>
        </p:nvSpPr>
        <p:spPr>
          <a:xfrm>
            <a:off x="365760" y="49880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C30160-EA00-35E3-DAD7-06D95CE0FBE7}"/>
              </a:ext>
            </a:extLst>
          </p:cNvPr>
          <p:cNvSpPr txBox="1"/>
          <p:nvPr/>
        </p:nvSpPr>
        <p:spPr>
          <a:xfrm>
            <a:off x="365760" y="51709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E653D33-888D-91D3-6ACD-09C109A1CB30}"/>
              </a:ext>
            </a:extLst>
          </p:cNvPr>
          <p:cNvSpPr/>
          <p:nvPr/>
        </p:nvSpPr>
        <p:spPr>
          <a:xfrm>
            <a:off x="1234440" y="49880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D54E6D-EA79-DF64-C1C1-1B5B302BAA5B}"/>
              </a:ext>
            </a:extLst>
          </p:cNvPr>
          <p:cNvSpPr txBox="1"/>
          <p:nvPr/>
        </p:nvSpPr>
        <p:spPr>
          <a:xfrm>
            <a:off x="1353312" y="50429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Report Generation Engine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7BC4E0-62E3-D50C-4C2A-B25DFB325C38}"/>
              </a:ext>
            </a:extLst>
          </p:cNvPr>
          <p:cNvSpPr txBox="1"/>
          <p:nvPr/>
        </p:nvSpPr>
        <p:spPr>
          <a:xfrm>
            <a:off x="1353312" y="53355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Jinja2 templates -&gt; Plain Text (.txt) / PDF (WeasyPrint) / HTML / Markdown / JSON + MITRE ATT&amp;CK Mapper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E74E7F7-F52E-610C-7E2A-C6B904DEBA04}"/>
              </a:ext>
            </a:extLst>
          </p:cNvPr>
          <p:cNvSpPr/>
          <p:nvPr/>
        </p:nvSpPr>
        <p:spPr>
          <a:xfrm>
            <a:off x="365760" y="5788152"/>
            <a:ext cx="82296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41C5B3-6648-62B8-7372-771C48031067}"/>
              </a:ext>
            </a:extLst>
          </p:cNvPr>
          <p:cNvSpPr txBox="1"/>
          <p:nvPr/>
        </p:nvSpPr>
        <p:spPr>
          <a:xfrm>
            <a:off x="365760" y="5971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9FAAB7B-CF57-55BF-FD6C-ECFD0937756A}"/>
              </a:ext>
            </a:extLst>
          </p:cNvPr>
          <p:cNvSpPr/>
          <p:nvPr/>
        </p:nvSpPr>
        <p:spPr>
          <a:xfrm>
            <a:off x="1234440" y="5788152"/>
            <a:ext cx="10607040" cy="6858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E7121E-E638-4AB0-510D-488D6D8A8819}"/>
              </a:ext>
            </a:extLst>
          </p:cNvPr>
          <p:cNvSpPr txBox="1"/>
          <p:nvPr/>
        </p:nvSpPr>
        <p:spPr>
          <a:xfrm>
            <a:off x="1353312" y="58430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</a:rPr>
              <a:t>SOC Dashboard &amp; Copilot UI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264130-E4E8-4B56-B939-64A2DEC4691A}"/>
              </a:ext>
            </a:extLst>
          </p:cNvPr>
          <p:cNvSpPr txBox="1"/>
          <p:nvPr/>
        </p:nvSpPr>
        <p:spPr>
          <a:xfrm>
            <a:off x="1353312" y="6135624"/>
            <a:ext cx="10332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React 18 + Zustand (chatStore + reportStore) + WebSocket real-time + localStorage persistence</a:t>
            </a:r>
          </a:p>
        </p:txBody>
      </p:sp>
    </p:spTree>
    <p:extLst>
      <p:ext uri="{BB962C8B-B14F-4D97-AF65-F5344CB8AC3E}">
        <p14:creationId xmlns:p14="http://schemas.microsoft.com/office/powerpoint/2010/main" val="421410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460" y="112525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Work Completed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8010" y="0"/>
            <a:ext cx="12173990" cy="6858000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8610600" y="6721475"/>
            <a:ext cx="2743200" cy="112407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55" y="29413"/>
            <a:ext cx="761065" cy="87136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5AD0E-93FC-050C-8CE0-F4C430FBDDB5}"/>
              </a:ext>
            </a:extLst>
          </p:cNvPr>
          <p:cNvSpPr/>
          <p:nvPr/>
        </p:nvSpPr>
        <p:spPr>
          <a:xfrm>
            <a:off x="365760" y="987552"/>
            <a:ext cx="5715000" cy="151790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2E3C1-B94E-97E7-1CD6-3AF033424235}"/>
              </a:ext>
            </a:extLst>
          </p:cNvPr>
          <p:cNvSpPr txBox="1"/>
          <p:nvPr/>
        </p:nvSpPr>
        <p:spPr>
          <a:xfrm>
            <a:off x="475488" y="104241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M1 - NLU Engine (DONE)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88C76E-4801-E6EC-E377-F5DD3A83D0DE}"/>
              </a:ext>
            </a:extLst>
          </p:cNvPr>
          <p:cNvSpPr txBox="1"/>
          <p:nvPr/>
        </p:nvSpPr>
        <p:spPr>
          <a:xfrm>
            <a:off x="502920" y="1316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Intent classifier: GPT-4 primary + Regex fallback covering 7 security intents.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DAD051-DEC5-F8BE-06D1-E3B7B5A8051E}"/>
              </a:ext>
            </a:extLst>
          </p:cNvPr>
          <p:cNvSpPr txBox="1"/>
          <p:nvPr/>
        </p:nvSpPr>
        <p:spPr>
          <a:xfrm>
            <a:off x="502920" y="15864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Entity extractor: IPv4/IPv6, MD5/SHA256 hashes, domain names, usernames, timeframes.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5C381-AE5C-1E7A-1647-0B2515E9FD68}"/>
              </a:ext>
            </a:extLst>
          </p:cNvPr>
          <p:cNvSpPr txBox="1"/>
          <p:nvPr/>
        </p:nvSpPr>
        <p:spPr>
          <a:xfrm>
            <a:off x="502920" y="18562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Context manager: Redis + in-memory fallback, resolves pronouns from last 10 turns.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40F65-8EEE-1F7A-4C2E-83CF3DD67783}"/>
              </a:ext>
            </a:extLst>
          </p:cNvPr>
          <p:cNvSpPr txBox="1"/>
          <p:nvPr/>
        </p:nvSpPr>
        <p:spPr>
          <a:xfrm>
            <a:off x="502920" y="21259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Query translator: generates SPL / DSL / KQL / AQL / generic queries.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47721-6371-5F3E-CF64-8065CC5E0935}"/>
              </a:ext>
            </a:extLst>
          </p:cNvPr>
          <p:cNvSpPr/>
          <p:nvPr/>
        </p:nvSpPr>
        <p:spPr>
          <a:xfrm>
            <a:off x="365760" y="2596896"/>
            <a:ext cx="5715000" cy="151790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B2C017-9756-63D4-131A-F2962C5FAD82}"/>
              </a:ext>
            </a:extLst>
          </p:cNvPr>
          <p:cNvSpPr txBox="1"/>
          <p:nvPr/>
        </p:nvSpPr>
        <p:spPr>
          <a:xfrm>
            <a:off x="475488" y="265176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M2 - SIEM Connectors (DONE)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FFA335-3CB3-DFEB-DDE2-5D61F9AE41B4}"/>
              </a:ext>
            </a:extLst>
          </p:cNvPr>
          <p:cNvSpPr txBox="1"/>
          <p:nvPr/>
        </p:nvSpPr>
        <p:spPr>
          <a:xfrm>
            <a:off x="502920" y="2926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Abstract SIEMConnector base class with SIEMQuery and SIEMResult dataclasses.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20BEC3-C51C-4DE0-1F95-F7E7657861DB}"/>
              </a:ext>
            </a:extLst>
          </p:cNvPr>
          <p:cNvSpPr txBox="1"/>
          <p:nvPr/>
        </p:nvSpPr>
        <p:spPr>
          <a:xfrm>
            <a:off x="502920" y="31958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Mock adapter with 20+ synthetic event generators covering all threat categories.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8FC9F3-C0CF-E057-183A-082CC301E693}"/>
              </a:ext>
            </a:extLst>
          </p:cNvPr>
          <p:cNvSpPr txBox="1"/>
          <p:nvPr/>
        </p:nvSpPr>
        <p:spPr>
          <a:xfrm>
            <a:off x="502920" y="3465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Elasticsearch DSL, Splunk SPL adapters implemented. Sentinel and QRadar stubs ready.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75F19-37E3-6972-C9E8-8C5910BE69DE}"/>
              </a:ext>
            </a:extLst>
          </p:cNvPr>
          <p:cNvSpPr txBox="1"/>
          <p:nvPr/>
        </p:nvSpPr>
        <p:spPr>
          <a:xfrm>
            <a:off x="502920" y="37353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Query injection sanitizer and adapter factory pattern implemented.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481A4D-951E-D7EC-FEE3-4BB7B740E42B}"/>
              </a:ext>
            </a:extLst>
          </p:cNvPr>
          <p:cNvSpPr/>
          <p:nvPr/>
        </p:nvSpPr>
        <p:spPr>
          <a:xfrm>
            <a:off x="365760" y="4206240"/>
            <a:ext cx="5715000" cy="151790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2ACE10-8336-1B7F-5EB7-BCAAC041B6ED}"/>
              </a:ext>
            </a:extLst>
          </p:cNvPr>
          <p:cNvSpPr txBox="1"/>
          <p:nvPr/>
        </p:nvSpPr>
        <p:spPr>
          <a:xfrm>
            <a:off x="475488" y="426110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M3 - Random Forest ML Engine (DONE)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303452-DC53-6F2E-87DE-AFBE4A74EDF1}"/>
              </a:ext>
            </a:extLst>
          </p:cNvPr>
          <p:cNvSpPr txBox="1"/>
          <p:nvPr/>
        </p:nvSpPr>
        <p:spPr>
          <a:xfrm>
            <a:off x="502920" y="45354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RandomForestClassifier: 100 trees, 5 malware families, 4 severity levels.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F2D919-2915-32B4-A1D1-D7B23A390C2D}"/>
              </a:ext>
            </a:extLst>
          </p:cNvPr>
          <p:cNvSpPr txBox="1"/>
          <p:nvPr/>
        </p:nvSpPr>
        <p:spPr>
          <a:xfrm>
            <a:off x="502920" y="48051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RandomForestRegressor: attacked system risk score (0-100 continuous regression).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BA1DE0-1DF4-996B-9436-73DF05E11988}"/>
              </a:ext>
            </a:extLst>
          </p:cNvPr>
          <p:cNvSpPr txBox="1"/>
          <p:nvPr/>
        </p:nvSpPr>
        <p:spPr>
          <a:xfrm>
            <a:off x="50292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CVE vulnerability correlation and Gini feature importance extraction.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A173F7-AC81-AB4F-68F0-783D75519512}"/>
              </a:ext>
            </a:extLst>
          </p:cNvPr>
          <p:cNvSpPr txBox="1"/>
          <p:nvPr/>
        </p:nvSpPr>
        <p:spPr>
          <a:xfrm>
            <a:off x="502920" y="53446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Integrated into chat REST API, WebSocket stream, and playbook engine.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02AFE4-B267-5ADB-E3BB-9425AD92C88B}"/>
              </a:ext>
            </a:extLst>
          </p:cNvPr>
          <p:cNvSpPr/>
          <p:nvPr/>
        </p:nvSpPr>
        <p:spPr>
          <a:xfrm>
            <a:off x="6309360" y="987552"/>
            <a:ext cx="5715000" cy="1517904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028E10-00D4-DA11-C759-C1B111C1EFFA}"/>
              </a:ext>
            </a:extLst>
          </p:cNvPr>
          <p:cNvSpPr txBox="1"/>
          <p:nvPr/>
        </p:nvSpPr>
        <p:spPr>
          <a:xfrm>
            <a:off x="6419088" y="104241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M4 - Playbook Engine (PARTIALLY DONE)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145A5F-ED30-515B-E4A2-B87DB3E9E004}"/>
              </a:ext>
            </a:extLst>
          </p:cNvPr>
          <p:cNvSpPr txBox="1"/>
          <p:nvPr/>
        </p:nvSpPr>
        <p:spPr>
          <a:xfrm>
            <a:off x="6446520" y="1316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NetworkX DAG async execution engine implemented.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5C72B-73F9-F002-8473-FA41606105FB}"/>
              </a:ext>
            </a:extLst>
          </p:cNvPr>
          <p:cNvSpPr txBox="1"/>
          <p:nvPr/>
        </p:nvSpPr>
        <p:spPr>
          <a:xfrm>
            <a:off x="6446520" y="15864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YAML definitions: brute_force, phishing, malware_analysis, lateral_movement.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AAFF47-B17C-0C6E-4EAF-98C0F9A1E88C}"/>
              </a:ext>
            </a:extLst>
          </p:cNvPr>
          <p:cNvSpPr txBox="1"/>
          <p:nvPr/>
        </p:nvSpPr>
        <p:spPr>
          <a:xfrm>
            <a:off x="6446520" y="18562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Random Forest predictions embedded into playbook findings.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A7DB49-8D0A-9001-18B9-92043A63C8DB}"/>
              </a:ext>
            </a:extLst>
          </p:cNvPr>
          <p:cNvSpPr txBox="1"/>
          <p:nvPr/>
        </p:nvSpPr>
        <p:spPr>
          <a:xfrm>
            <a:off x="6446520" y="21259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PENDING: Live enrichment API calls inside playbook nodes + ApprovalGate blocking.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06FB88-700D-A272-BDF8-9FBBD638CD94}"/>
              </a:ext>
            </a:extLst>
          </p:cNvPr>
          <p:cNvSpPr/>
          <p:nvPr/>
        </p:nvSpPr>
        <p:spPr>
          <a:xfrm>
            <a:off x="6309360" y="2596896"/>
            <a:ext cx="5715000" cy="124815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F657E1-F88C-AA76-FFC8-428608DF616D}"/>
              </a:ext>
            </a:extLst>
          </p:cNvPr>
          <p:cNvSpPr txBox="1"/>
          <p:nvPr/>
        </p:nvSpPr>
        <p:spPr>
          <a:xfrm>
            <a:off x="6419088" y="265176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M6 - Report Generation (DONE)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84A126-2163-4B4F-722C-B5C66A5CA93B}"/>
              </a:ext>
            </a:extLst>
          </p:cNvPr>
          <p:cNvSpPr txBox="1"/>
          <p:nvPr/>
        </p:nvSpPr>
        <p:spPr>
          <a:xfrm>
            <a:off x="6446520" y="2926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Plain Text (.txt) report generator with full incident structure.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C9DCB2-9C56-473D-B693-E6A5268A7425}"/>
              </a:ext>
            </a:extLst>
          </p:cNvPr>
          <p:cNvSpPr txBox="1"/>
          <p:nvPr/>
        </p:nvSpPr>
        <p:spPr>
          <a:xfrm>
            <a:off x="6446520" y="31958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PDF / HTML / Markdown / JSON fallback engine (WeasyPrint + Jinja2 templates).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26C2A4-2709-D15B-4469-F6B32FC86570}"/>
              </a:ext>
            </a:extLst>
          </p:cNvPr>
          <p:cNvSpPr txBox="1"/>
          <p:nvPr/>
        </p:nvSpPr>
        <p:spPr>
          <a:xfrm>
            <a:off x="6446520" y="3465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MITRE ATT&amp;CK mapper (30+ TTP techniques). Auto-save from chat to Reports store.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2429825-829C-5533-0241-077F95EE1B7B}"/>
              </a:ext>
            </a:extLst>
          </p:cNvPr>
          <p:cNvSpPr/>
          <p:nvPr/>
        </p:nvSpPr>
        <p:spPr>
          <a:xfrm>
            <a:off x="6309360" y="3936492"/>
            <a:ext cx="5715000" cy="124815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F13179-44CE-8732-1BBB-971FF9242974}"/>
              </a:ext>
            </a:extLst>
          </p:cNvPr>
          <p:cNvSpPr txBox="1"/>
          <p:nvPr/>
        </p:nvSpPr>
        <p:spPr>
          <a:xfrm>
            <a:off x="6419088" y="399135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</a:rPr>
              <a:t>M7 - SOC Dashboard UI (DONE)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F49EF3-CE73-EE28-CA88-2C459B1B8234}"/>
              </a:ext>
            </a:extLst>
          </p:cNvPr>
          <p:cNvSpPr txBox="1"/>
          <p:nvPr/>
        </p:nvSpPr>
        <p:spPr>
          <a:xfrm>
            <a:off x="6446520" y="42656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Dashboard, Copilot Chat, Investigations, Reports pages built and verified.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FA9FBE-65AA-6EA5-1CB2-D6F3958A71E1}"/>
              </a:ext>
            </a:extLst>
          </p:cNvPr>
          <p:cNvSpPr txBox="1"/>
          <p:nvPr/>
        </p:nvSpPr>
        <p:spPr>
          <a:xfrm>
            <a:off x="6446520" y="45354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RandomForestCard component with live ML predictions inside message bubbles.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BFCF71-0AE2-6C68-A85D-303FF230DDFB}"/>
              </a:ext>
            </a:extLst>
          </p:cNvPr>
          <p:cNvSpPr txBox="1"/>
          <p:nvPr/>
        </p:nvSpPr>
        <p:spPr>
          <a:xfrm>
            <a:off x="6446520" y="48051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- Persistent chat history + report auto-storage across browser sessions (localStorage).</a:t>
            </a: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07" y="283463"/>
            <a:ext cx="9358840" cy="754113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r>
              <a:t>Module Implementation Status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90" y="187721"/>
            <a:ext cx="742280" cy="84985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734928-D927-03D1-1CF7-C6F71BB0F62D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37160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Subsystem / Component</a:t>
                      </a:r>
                    </a:p>
                  </a:txBody>
                  <a:tcPr anchor="ctr"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 Implementation Deliverables</a:t>
                      </a:r>
                    </a:p>
                  </a:txBody>
                  <a:tcPr anchor="ctr"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2 Status</a:t>
                      </a:r>
                    </a:p>
                  </a:txBody>
                  <a:tcPr anchor="ctr">
                    <a:solidFill>
                      <a:srgbClr val="10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NLU &amp; Intent Engine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GPT-4 &amp; Regex classifier (7 intents), entity extractor (IP, hash, CVE, user), Redis 10-turn context manager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Tested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SIEM Connector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Windows RealSystemAdapter (Event Log 4625/4624, netstat sockets, psutil processes), Mock adapter, query sanitizer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Verified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Random Forest ML Engine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100-Tree Classifier (malware family &amp; severity) + 100-Tree Regressor (risk score 0-100), Gini feature importances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Trained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Playbook Orchestration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NetworkX DAG async execution engine, YAML playbooks (brute force, phishing, malware, lateral movement), MITRE 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Tested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Threat Intel Enrichment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VirusTotal v3 + AbuseIPDB v2 integration, parallel async orchestrator, TTL caching, multi-IOC threat scoring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Integrated &amp; Operational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Report Generation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Structured Plain Text (.txt), Markdown, JSON, HTML, and PDF reports with automated MITRE ATT&amp;CK breakdown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Verified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SOC Copilot UI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 18, TypeScript, Vite, Zustand state management, WebSocket real-time event streaming, incident triage dashboard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Completed &amp; Deployed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Rectangle 7"/>
          <p:cNvSpPr/>
          <p:nvPr/>
        </p:nvSpPr>
        <p:spPr>
          <a:xfrm>
            <a:off x="18010" y="0"/>
            <a:ext cx="12173990" cy="6858000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9460" y="112525"/>
            <a:ext cx="9358840" cy="896145"/>
          </a:xfrm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>
              <a:defRPr sz="2800" b="1">
                <a:solidFill>
                  <a:srgbClr val="102040"/>
                </a:solidFill>
                <a:latin typeface="Calibri"/>
              </a:defRPr>
            </a:pPr>
            <a:r>
              <a:t>Challenges Faced &amp; Technical Solutions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5" y="29413"/>
            <a:ext cx="761065" cy="871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3880" y="1257851"/>
            <a:ext cx="10789920" cy="5281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5.0.0 &amp;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Passlib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Compatibility Issue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passlib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internally benchmarks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throws a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5.0.0 on 72+ byte passwords. Resolved by pinning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==4.0.1 and adding 72-byte password slicing in jwt_handler.py.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WeasyPrint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GTK Native Libraries on Windows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WeasyPrint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libgobject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libpango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DLLs which crash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Windows if missing. Implemented dynamic lazy import inside try/except with automated fallback to Plain Text (.txt) and HTML.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Async PostgreSQL vs SQLite Fallback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offline/lab systems without PostgreSQL on port 5432,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asyncpg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connections fail on startup. Created an automated socket probe that dynamically switches to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sqlite+aiosqlite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:///./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siem.db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React Axios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Duplication Bug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proxied 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port 8000 while Axios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baseURL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set to '/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generating duplicate 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404 errors. Standardized Axios relative endpoints across all API clients.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RBAC Role Enum vs String Type Safety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user roles as Enum objects while auth dependencies compared strings. Added .value attribute extraction guard in rbac.py to handle both Enum and string types safely.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WebSocket Auth Token Header Constraints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WebSocket API does not allow custom Authorization headers. Architected an automated REST polling fallback in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useWebSocket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that seamlessly activates whenever WebSocket is constrained</a:t>
            </a:r>
            <a:r>
              <a:rPr dirty="0"/>
              <a:t>.</a:t>
            </a:r>
          </a:p>
        </p:txBody>
      </p:sp>
      <p:sp>
        <p:nvSpPr>
          <p:cNvPr id="889" name="Slide Number Placeholder 1"/>
          <p:cNvSpPr>
            <a:spLocks noGrp="1"/>
          </p:cNvSpPr>
          <p:nvPr>
            <p:ph type="sldNum" sz="quarter" idx="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pPr algn="r"/>
            <a:r>
              <a:rPr lang="en-US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07" y="283463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r>
              <a:t>Work Plan &amp; Future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8B87F2B-A86D-F70E-EE33-301C6DC5EB8B}"/>
              </a:ext>
            </a:extLst>
          </p:cNvPr>
          <p:cNvSpPr txBox="1"/>
          <p:nvPr/>
        </p:nvSpPr>
        <p:spPr>
          <a:xfrm>
            <a:off x="513541" y="1521889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dirty="0">
                <a:solidFill>
                  <a:srgbClr val="1F3A6B"/>
                </a:solidFill>
              </a:rPr>
              <a:t>M3 - RF Model Improvement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6614ECE-7D5B-CE10-05E6-C750CEA2E9BA}"/>
              </a:ext>
            </a:extLst>
          </p:cNvPr>
          <p:cNvSpPr txBox="1"/>
          <p:nvPr/>
        </p:nvSpPr>
        <p:spPr>
          <a:xfrm>
            <a:off x="488175" y="1827584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Expand training dataset from 600 to 10,000+ synthetic events with broader class distribution.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155C1D2-C9A3-3252-9859-79E9143A44E8}"/>
              </a:ext>
            </a:extLst>
          </p:cNvPr>
          <p:cNvSpPr txBox="1"/>
          <p:nvPr/>
        </p:nvSpPr>
        <p:spPr>
          <a:xfrm>
            <a:off x="460375" y="2155292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Add model persistence using </a:t>
            </a:r>
            <a:r>
              <a:rPr i="0" dirty="0" err="1">
                <a:solidFill>
                  <a:srgbClr val="000000"/>
                </a:solidFill>
              </a:rPr>
              <a:t>joblib.dump</a:t>
            </a:r>
            <a:r>
              <a:rPr i="0" dirty="0">
                <a:solidFill>
                  <a:srgbClr val="000000"/>
                </a:solidFill>
              </a:rPr>
              <a:t> / load to avoid retraining on every server restart.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0194F36-7E87-BAA9-F6EC-709254EDB7F4}"/>
              </a:ext>
            </a:extLst>
          </p:cNvPr>
          <p:cNvSpPr txBox="1"/>
          <p:nvPr/>
        </p:nvSpPr>
        <p:spPr>
          <a:xfrm>
            <a:off x="513541" y="2823251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dirty="0">
                <a:solidFill>
                  <a:srgbClr val="1F3A6B"/>
                </a:solidFill>
              </a:rPr>
              <a:t>M4 - Playbook Engine Completion (20% Remaining)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11EC2DF-BA37-2DAE-F2E9-ED6D224D181C}"/>
              </a:ext>
            </a:extLst>
          </p:cNvPr>
          <p:cNvSpPr txBox="1"/>
          <p:nvPr/>
        </p:nvSpPr>
        <p:spPr>
          <a:xfrm>
            <a:off x="488175" y="321208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Implement full async node execution with live SIEM event data (currently uses dummy execution).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92C5730-A5D9-44EA-A959-6BBA32384C9C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ED5A764-6FE7-52F1-972D-7CAF3D63DA76}"/>
              </a:ext>
            </a:extLst>
          </p:cNvPr>
          <p:cNvSpPr/>
          <p:nvPr/>
        </p:nvSpPr>
        <p:spPr>
          <a:xfrm>
            <a:off x="365760" y="6583680"/>
            <a:ext cx="11430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AD20ED7-8615-01E5-1EB0-C25F2572BAEC}"/>
              </a:ext>
            </a:extLst>
          </p:cNvPr>
          <p:cNvSpPr txBox="1"/>
          <p:nvPr/>
        </p:nvSpPr>
        <p:spPr>
          <a:xfrm>
            <a:off x="460375" y="3473694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Add </a:t>
            </a:r>
            <a:r>
              <a:rPr i="0" dirty="0" err="1">
                <a:solidFill>
                  <a:srgbClr val="000000"/>
                </a:solidFill>
              </a:rPr>
              <a:t>ApprovalGate</a:t>
            </a:r>
            <a:r>
              <a:rPr i="0" dirty="0">
                <a:solidFill>
                  <a:srgbClr val="000000"/>
                </a:solidFill>
              </a:rPr>
              <a:t> blocking for high-impact actions (isolate host, block IP) inside DAG flow.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68D9EC9-B765-C797-F702-AA098BEB052C}"/>
              </a:ext>
            </a:extLst>
          </p:cNvPr>
          <p:cNvSpPr txBox="1"/>
          <p:nvPr/>
        </p:nvSpPr>
        <p:spPr>
          <a:xfrm>
            <a:off x="460375" y="3778191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Integrate enrichment pipeline (</a:t>
            </a:r>
            <a:r>
              <a:rPr i="0" dirty="0" err="1">
                <a:solidFill>
                  <a:srgbClr val="000000"/>
                </a:solidFill>
              </a:rPr>
              <a:t>VirusTotal</a:t>
            </a:r>
            <a:r>
              <a:rPr i="0" dirty="0">
                <a:solidFill>
                  <a:srgbClr val="000000"/>
                </a:solidFill>
              </a:rPr>
              <a:t> + </a:t>
            </a:r>
            <a:r>
              <a:rPr i="0" dirty="0" err="1">
                <a:solidFill>
                  <a:srgbClr val="000000"/>
                </a:solidFill>
              </a:rPr>
              <a:t>AbuseIPDB</a:t>
            </a:r>
            <a:r>
              <a:rPr i="0" dirty="0">
                <a:solidFill>
                  <a:srgbClr val="000000"/>
                </a:solidFill>
              </a:rPr>
              <a:t>) directly inside playbook nodes.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D73A6424-E7B5-9850-0062-BBF5B785F658}"/>
              </a:ext>
            </a:extLst>
          </p:cNvPr>
          <p:cNvSpPr txBox="1"/>
          <p:nvPr/>
        </p:nvSpPr>
        <p:spPr>
          <a:xfrm>
            <a:off x="460375" y="4083773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Add real-time playbook progress streaming over WebSocket (node-by-node status updates).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3BEA27B-30F1-1467-9FE4-71C4C465B8F1}"/>
              </a:ext>
            </a:extLst>
          </p:cNvPr>
          <p:cNvSpPr txBox="1"/>
          <p:nvPr/>
        </p:nvSpPr>
        <p:spPr>
          <a:xfrm>
            <a:off x="502920" y="4473973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dirty="0">
                <a:solidFill>
                  <a:srgbClr val="1F3A6B"/>
                </a:solidFill>
              </a:rPr>
              <a:t>M5 - Threat Intel Enrichment (30% Remaining)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ED31444-E7E6-2502-CF37-44A53E34B6C7}"/>
              </a:ext>
            </a:extLst>
          </p:cNvPr>
          <p:cNvSpPr txBox="1"/>
          <p:nvPr/>
        </p:nvSpPr>
        <p:spPr>
          <a:xfrm>
            <a:off x="488175" y="479949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Connect live </a:t>
            </a:r>
            <a:r>
              <a:rPr i="0" dirty="0" err="1">
                <a:solidFill>
                  <a:srgbClr val="000000"/>
                </a:solidFill>
              </a:rPr>
              <a:t>VirusTotal</a:t>
            </a:r>
            <a:r>
              <a:rPr i="0" dirty="0">
                <a:solidFill>
                  <a:srgbClr val="000000"/>
                </a:solidFill>
              </a:rPr>
              <a:t> v3 and </a:t>
            </a:r>
            <a:r>
              <a:rPr i="0" dirty="0" err="1">
                <a:solidFill>
                  <a:srgbClr val="000000"/>
                </a:solidFill>
              </a:rPr>
              <a:t>AbuseIPDB</a:t>
            </a:r>
            <a:r>
              <a:rPr i="0" dirty="0">
                <a:solidFill>
                  <a:srgbClr val="000000"/>
                </a:solidFill>
              </a:rPr>
              <a:t> v2 API calls (API keys loaded via .env config).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4D2D8F2-9F6C-801E-3336-5AC425547209}"/>
              </a:ext>
            </a:extLst>
          </p:cNvPr>
          <p:cNvSpPr txBox="1"/>
          <p:nvPr/>
        </p:nvSpPr>
        <p:spPr>
          <a:xfrm>
            <a:off x="488175" y="515678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Implement Redis TTL cache (15-minute expiry) to avoid repeated API calls for same IOCs.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E9F19C5-0EE6-856B-CAF0-02C2A6E9CCAA}"/>
              </a:ext>
            </a:extLst>
          </p:cNvPr>
          <p:cNvSpPr txBox="1"/>
          <p:nvPr/>
        </p:nvSpPr>
        <p:spPr>
          <a:xfrm>
            <a:off x="488175" y="5458032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Add Shodan API integration for open port and attack surface enrichment.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DDE3F71-4DA0-AE0F-6936-F74510D01402}"/>
              </a:ext>
            </a:extLst>
          </p:cNvPr>
          <p:cNvSpPr txBox="1"/>
          <p:nvPr/>
        </p:nvSpPr>
        <p:spPr>
          <a:xfrm>
            <a:off x="513541" y="580328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Feed enrichment results back into Random Forest feature vector for dynamic re-scoring.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A629A643-B122-77C1-53AC-1424B09E31A3}"/>
              </a:ext>
            </a:extLst>
          </p:cNvPr>
          <p:cNvSpPr txBox="1"/>
          <p:nvPr/>
        </p:nvSpPr>
        <p:spPr>
          <a:xfrm>
            <a:off x="492419" y="2487982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0" dirty="0">
                <a:solidFill>
                  <a:srgbClr val="000000"/>
                </a:solidFill>
              </a:rPr>
              <a:t>  - Introduce online learning (</a:t>
            </a:r>
            <a:r>
              <a:rPr i="0" dirty="0" err="1">
                <a:solidFill>
                  <a:srgbClr val="000000"/>
                </a:solidFill>
              </a:rPr>
              <a:t>partial_fit</a:t>
            </a:r>
            <a:r>
              <a:rPr i="0" dirty="0">
                <a:solidFill>
                  <a:srgbClr val="000000"/>
                </a:solidFill>
              </a:rPr>
              <a:t>) so the model improves from analyst feedback over time.</a:t>
            </a: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07" y="283463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r>
              <a:t>Expected Outcomes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102040"/>
                </a:solidFill>
                <a:latin typeface="Calibri"/>
              </a:defRPr>
            </a:pP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</a:p>
        </p:txBody>
      </p:sp>
      <p:sp>
        <p:nvSpPr>
          <p:cNvPr id="6" name="AutoShape 2" descr="Low-Earth-Orbit Satellites Go Low Wit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4496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Mean Time to Detect (MTTD) Reduction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triage turnaround reduced from 45 minutes of manual log searching to under 3 seconds using real-time Random Forest ML evaluation on incoming SIEM event streams.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False Positive Reduction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60%–70% reduction in false positive alerts through 100-tree ensemble consensus voting, overcoming single-threshold rule triggers.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Analyst Productivity Improvement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Tier-1 analysts investigate complex security incidents entirely in plain English without requiring SPL, KQL, or AQL syntax expertise, reducing turnaround time by 40%.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Automated Incident Documentation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generation of structured incident reports (Plain Text .txt, Markdown, HTML, PDF) with extracted IOCs, MITRE ATT&amp;CK technique IDs, and recommended remediation actions.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Multi-Platform SIEM Coverage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Pluggable SIEM connector abstraction supporting live Windows Event Logs, Splunk, Elastic Stack, Microsoft Sentinel, IBM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QRadar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RESTful log sources.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50" b="1">
                <a:solidFill>
                  <a:srgbClr val="102040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Persistent SOC Knowledge Base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1E1E1E"/>
                </a:solidFill>
                <a:latin typeface="Calibr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threads and generated threat reports are persistently archived in SQLite/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creating a searchable and auditable incident knowledge base over time.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4F99ED-E242-414D-F21F-F31D897419C3}"/>
              </a:ext>
            </a:extLst>
          </p:cNvPr>
          <p:cNvSpPr/>
          <p:nvPr/>
        </p:nvSpPr>
        <p:spPr>
          <a:xfrm>
            <a:off x="610590" y="1950518"/>
            <a:ext cx="10819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92608" y="1749552"/>
            <a:ext cx="2706624" cy="536448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749552"/>
            <a:ext cx="270662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2999232" y="1749552"/>
            <a:ext cx="748589" cy="292608"/>
          </a:xfrm>
          <a:prstGeom prst="rect">
            <a:avLst/>
          </a:prstGeom>
          <a:solidFill>
            <a:srgbClr val="4A3520"/>
          </a:solidFill>
          <a:ln w="9525">
            <a:solidFill>
              <a:srgbClr val="6B4F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99232" y="1749552"/>
            <a:ext cx="7485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7821" y="1749552"/>
            <a:ext cx="3742944" cy="292608"/>
          </a:xfrm>
          <a:prstGeom prst="rect">
            <a:avLst/>
          </a:prstGeom>
          <a:solidFill>
            <a:srgbClr val="4A3520"/>
          </a:solidFill>
          <a:ln w="9525">
            <a:solidFill>
              <a:srgbClr val="6B4F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7821" y="1749552"/>
            <a:ext cx="3742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0765" y="1749552"/>
            <a:ext cx="2994355" cy="292608"/>
          </a:xfrm>
          <a:prstGeom prst="rect">
            <a:avLst/>
          </a:prstGeom>
          <a:solidFill>
            <a:srgbClr val="4A3520"/>
          </a:solidFill>
          <a:ln w="9525">
            <a:solidFill>
              <a:srgbClr val="6B4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0765" y="1749552"/>
            <a:ext cx="29943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85121" y="1749552"/>
            <a:ext cx="1497177" cy="292608"/>
          </a:xfrm>
          <a:prstGeom prst="rect">
            <a:avLst/>
          </a:prstGeom>
          <a:solidFill>
            <a:srgbClr val="4A3520"/>
          </a:solidFill>
          <a:ln w="9525">
            <a:solidFill>
              <a:srgbClr val="6B4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85121" y="1749552"/>
            <a:ext cx="1497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99232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23/2/26</a:t>
            </a:r>
          </a:p>
        </p:txBody>
      </p:sp>
      <p:sp>
        <p:nvSpPr>
          <p:cNvPr id="15" name="Shape 13"/>
          <p:cNvSpPr/>
          <p:nvPr/>
        </p:nvSpPr>
        <p:spPr>
          <a:xfrm>
            <a:off x="3747822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7822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2/3/26</a:t>
            </a:r>
          </a:p>
        </p:txBody>
      </p:sp>
      <p:sp>
        <p:nvSpPr>
          <p:cNvPr id="17" name="Shape 15"/>
          <p:cNvSpPr/>
          <p:nvPr/>
        </p:nvSpPr>
        <p:spPr>
          <a:xfrm>
            <a:off x="4496410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6410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9/3/26</a:t>
            </a:r>
          </a:p>
        </p:txBody>
      </p:sp>
      <p:sp>
        <p:nvSpPr>
          <p:cNvPr id="19" name="Shape 17"/>
          <p:cNvSpPr/>
          <p:nvPr/>
        </p:nvSpPr>
        <p:spPr>
          <a:xfrm>
            <a:off x="5244999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4999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16/3/26</a:t>
            </a:r>
          </a:p>
        </p:txBody>
      </p:sp>
      <p:sp>
        <p:nvSpPr>
          <p:cNvPr id="21" name="Shape 19"/>
          <p:cNvSpPr/>
          <p:nvPr/>
        </p:nvSpPr>
        <p:spPr>
          <a:xfrm>
            <a:off x="5993587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3587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23/3/26</a:t>
            </a:r>
          </a:p>
        </p:txBody>
      </p:sp>
      <p:sp>
        <p:nvSpPr>
          <p:cNvPr id="23" name="Shape 21"/>
          <p:cNvSpPr/>
          <p:nvPr/>
        </p:nvSpPr>
        <p:spPr>
          <a:xfrm>
            <a:off x="6742176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2176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30/3/26</a:t>
            </a:r>
          </a:p>
        </p:txBody>
      </p:sp>
      <p:sp>
        <p:nvSpPr>
          <p:cNvPr id="25" name="Shape 23"/>
          <p:cNvSpPr/>
          <p:nvPr/>
        </p:nvSpPr>
        <p:spPr>
          <a:xfrm>
            <a:off x="7490766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0766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6/4/26</a:t>
            </a:r>
          </a:p>
        </p:txBody>
      </p:sp>
      <p:sp>
        <p:nvSpPr>
          <p:cNvPr id="27" name="Shape 25"/>
          <p:cNvSpPr/>
          <p:nvPr/>
        </p:nvSpPr>
        <p:spPr>
          <a:xfrm>
            <a:off x="8239354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9354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13/4/26</a:t>
            </a:r>
          </a:p>
        </p:txBody>
      </p:sp>
      <p:sp>
        <p:nvSpPr>
          <p:cNvPr id="29" name="Shape 27"/>
          <p:cNvSpPr/>
          <p:nvPr/>
        </p:nvSpPr>
        <p:spPr>
          <a:xfrm>
            <a:off x="8987943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7943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20/4/26</a:t>
            </a:r>
          </a:p>
        </p:txBody>
      </p:sp>
      <p:sp>
        <p:nvSpPr>
          <p:cNvPr id="31" name="Shape 29"/>
          <p:cNvSpPr/>
          <p:nvPr/>
        </p:nvSpPr>
        <p:spPr>
          <a:xfrm>
            <a:off x="9736531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6531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27/4/26</a:t>
            </a:r>
          </a:p>
        </p:txBody>
      </p:sp>
      <p:sp>
        <p:nvSpPr>
          <p:cNvPr id="33" name="Shape 31"/>
          <p:cNvSpPr/>
          <p:nvPr/>
        </p:nvSpPr>
        <p:spPr>
          <a:xfrm>
            <a:off x="10485120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85120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4/5/26</a:t>
            </a:r>
          </a:p>
        </p:txBody>
      </p:sp>
      <p:sp>
        <p:nvSpPr>
          <p:cNvPr id="35" name="Shape 33"/>
          <p:cNvSpPr/>
          <p:nvPr/>
        </p:nvSpPr>
        <p:spPr>
          <a:xfrm>
            <a:off x="11233710" y="2042160"/>
            <a:ext cx="748589" cy="320000"/>
          </a:xfrm>
          <a:prstGeom prst="rect">
            <a:avLst/>
          </a:prstGeom>
          <a:solidFill>
            <a:srgbClr val="6B4F35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33710" y="2042160"/>
            <a:ext cx="74858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Calibri" pitchFamily="34" charset="0"/>
              </a:rPr>
              <a:t>11/5/26</a:t>
            </a:r>
          </a:p>
        </p:txBody>
      </p:sp>
      <p:sp>
        <p:nvSpPr>
          <p:cNvPr id="37" name="Shape 35"/>
          <p:cNvSpPr/>
          <p:nvPr/>
        </p:nvSpPr>
        <p:spPr>
          <a:xfrm>
            <a:off x="292608" y="2286000"/>
            <a:ext cx="2706624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376" y="2286000"/>
            <a:ext cx="26334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Identification</a:t>
            </a:r>
            <a:endParaRPr lang="en-US" sz="1067" dirty="0"/>
          </a:p>
        </p:txBody>
      </p:sp>
      <p:sp>
        <p:nvSpPr>
          <p:cNvPr id="39" name="Shape 37"/>
          <p:cNvSpPr/>
          <p:nvPr/>
        </p:nvSpPr>
        <p:spPr>
          <a:xfrm>
            <a:off x="2999232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7822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6410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44999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3587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42176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0766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39354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87943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6531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85120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33710" y="2286000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11424" y="2353056"/>
            <a:ext cx="724205" cy="298704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2718816"/>
            <a:ext cx="2706624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376" y="2718816"/>
            <a:ext cx="26334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Survey (50 Papers)</a:t>
            </a:r>
            <a:endParaRPr lang="en-US" sz="1067" dirty="0"/>
          </a:p>
        </p:txBody>
      </p:sp>
      <p:sp>
        <p:nvSpPr>
          <p:cNvPr id="54" name="Shape 52"/>
          <p:cNvSpPr/>
          <p:nvPr/>
        </p:nvSpPr>
        <p:spPr>
          <a:xfrm>
            <a:off x="2999232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7822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96410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44999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93587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42176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90766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39354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87943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36531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85120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233710" y="2718816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11425" y="2785872"/>
            <a:ext cx="5964327" cy="298704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2608" y="3151632"/>
            <a:ext cx="2706624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376" y="3151632"/>
            <a:ext cx="26334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 Gap Analysis</a:t>
            </a:r>
            <a:endParaRPr lang="en-US" sz="1067" dirty="0"/>
          </a:p>
        </p:txBody>
      </p:sp>
      <p:sp>
        <p:nvSpPr>
          <p:cNvPr id="69" name="Shape 67"/>
          <p:cNvSpPr/>
          <p:nvPr/>
        </p:nvSpPr>
        <p:spPr>
          <a:xfrm>
            <a:off x="2999232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47822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96410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244999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93587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42176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90766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39354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87943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36531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485120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233710" y="3151632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11425" y="3218688"/>
            <a:ext cx="1472793" cy="298704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54369" y="3218688"/>
            <a:ext cx="1472793" cy="298704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2608" y="3591851"/>
            <a:ext cx="2706624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41376" y="3591851"/>
            <a:ext cx="26334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Synopsis Document</a:t>
            </a:r>
            <a:endParaRPr lang="en-US" sz="1067" dirty="0"/>
          </a:p>
        </p:txBody>
      </p:sp>
      <p:sp>
        <p:nvSpPr>
          <p:cNvPr id="145" name="Shape 143"/>
          <p:cNvSpPr/>
          <p:nvPr/>
        </p:nvSpPr>
        <p:spPr>
          <a:xfrm>
            <a:off x="2999232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47822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96410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44999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93587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742176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90766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239354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987943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736531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485120" y="3591851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233708" y="3584448"/>
            <a:ext cx="748589" cy="432816"/>
          </a:xfrm>
          <a:prstGeom prst="rect">
            <a:avLst/>
          </a:prstGeom>
          <a:solidFill>
            <a:srgbClr val="FFF3C4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754369" y="3658907"/>
            <a:ext cx="1472793" cy="298704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92608" y="4024667"/>
            <a:ext cx="2706624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41376" y="4024667"/>
            <a:ext cx="26334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Phase 1 Presentation  ★</a:t>
            </a:r>
            <a:endParaRPr lang="en-US" sz="1067" dirty="0"/>
          </a:p>
        </p:txBody>
      </p:sp>
      <p:sp>
        <p:nvSpPr>
          <p:cNvPr id="160" name="Shape 158"/>
          <p:cNvSpPr/>
          <p:nvPr/>
        </p:nvSpPr>
        <p:spPr>
          <a:xfrm>
            <a:off x="2999232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747822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496410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244999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93587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42176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490766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239354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987943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736531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485120" y="4024667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233709" y="4017264"/>
            <a:ext cx="748589" cy="432816"/>
          </a:xfrm>
          <a:prstGeom prst="rect">
            <a:avLst/>
          </a:prstGeom>
          <a:solidFill>
            <a:srgbClr val="FFFDE7"/>
          </a:solidFill>
          <a:ln w="6350">
            <a:solidFill>
              <a:srgbClr val="CEC0A0"/>
            </a:solidFill>
            <a:prstDash val="solid"/>
          </a:ln>
        </p:spPr>
      </p:sp>
      <p:sp>
        <p:nvSpPr>
          <p:cNvPr id="224" name="Shape 185"/>
          <p:cNvSpPr/>
          <p:nvPr/>
        </p:nvSpPr>
        <p:spPr>
          <a:xfrm>
            <a:off x="7858903" y="4091723"/>
            <a:ext cx="1761347" cy="251841"/>
          </a:xfrm>
          <a:prstGeom prst="roundRect">
            <a:avLst>
              <a:gd name="adj" fmla="val 163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2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 txBox="1">
            <a:spLocks/>
          </p:cNvSpPr>
          <p:nvPr/>
        </p:nvSpPr>
        <p:spPr>
          <a:xfrm>
            <a:off x="1619979" y="292128"/>
            <a:ext cx="9358840" cy="896145"/>
          </a:xfrm>
          <a:prstGeom prst="rect">
            <a:avLst/>
          </a:prstGeo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Gantt Chart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1575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292128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E3ECB517-02C1-AECA-61F8-7ED675AFB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66" y="1285904"/>
            <a:ext cx="1153702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[1]Ramakrishnan, S.,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Chittibala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D. R.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Enhancing Cyber Resilience: Convergence of SIEM, SOAR, and AI in 2024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International Journal of Computing and Engineering, 5(2), 36–44.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 A.,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Alwahedi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F., Battah, A., Cherif, B., Mechri, A., Tihanyi, N.,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Bisztray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T., &amp; Debbah, M.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in Cybersecurity: A Comprehensive Review of LLM Applications and Vulnerabilities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arXiv:2405.12750v2.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[3]Dai, R.,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P., Gui, Y.,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Q., Qiao, Y., Wang, Y., Sun, D., Huang, W., Li, Y., &amp; Wang, X.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Automated Attack Investigation Approach Leveraging Threat-Knowledge-Augmented Large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arXiv:2509.01271v1.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[4]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Saju, M. H., Page, A., Azim, A., Gardiner, J., Abazari, F., &amp; Eargle, F. (2025).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SynRAG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Large Language Model Framework for Executable Query Generation in Heterogeneous SIEM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arXiv:2512.24571v1.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[5]Sahaya, R., Eapen, B., Meng, W., Mamun, M. R. A., Dora, N. K.,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Sumasadana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Tetarave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 K., &amp; De La Cruz, E.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Policy-Guided Threat Hunting: An LLM Enabled Framework with Splunk SOC Triage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arXiv:2603.23966v3.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[6]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Aboudrar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Y.,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Bouragba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K., &amp;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Ouzzif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M. (2025).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AI-Driven Firewall Log Analysis: Enhancing Threat Detection with Deep Learning Techniques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International Journal of Advanced Computer Science and Applications, 16(7).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[7]</a:t>
            </a:r>
            <a:r>
              <a:rPr lang="en-IN" dirty="0" err="1"/>
              <a:t>Vardalachakis</a:t>
            </a:r>
            <a:r>
              <a:rPr lang="en-IN" dirty="0"/>
              <a:t>, M., Vasilakis, M., &amp; </a:t>
            </a:r>
            <a:r>
              <a:rPr lang="en-IN" dirty="0" err="1"/>
              <a:t>Tampouratzis</a:t>
            </a:r>
            <a:r>
              <a:rPr lang="en-IN" dirty="0"/>
              <a:t>, M. (2025). </a:t>
            </a:r>
            <a:r>
              <a:rPr lang="en-IN" i="1" dirty="0"/>
              <a:t>A Comprehensive Analysis of Features, Benefits, Challenges, and Best Practices of Security Information and Event Management (SIEM) Solutions</a:t>
            </a:r>
            <a:r>
              <a:rPr lang="en-IN" dirty="0"/>
              <a:t>. Computer Science &amp; Mathematics Forum, 12, 18.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500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979" y="292128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616CF-847E-133C-12B1-A52AF75FB30C}"/>
              </a:ext>
            </a:extLst>
          </p:cNvPr>
          <p:cNvSpPr txBox="1"/>
          <p:nvPr/>
        </p:nvSpPr>
        <p:spPr>
          <a:xfrm>
            <a:off x="404889" y="1619055"/>
            <a:ext cx="10910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E1818AB-DE6D-620B-21A1-85A675FE3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7" y="1119611"/>
            <a:ext cx="1136468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[8]Ranjithkumar, S., &amp; Mohankumar, M.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Information and Event Management (SIEM) Performance in On-Premises and Cloud Based SIEM: A Survey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Proceedings of AI4IoT 2023, 627–633.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[9]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Bairoja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Askhan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 M., Vijay, B. B., &amp; Tamilselvan, P.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Information and Event Management (SIEM)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ESP Journal of Engineering Technology Advancements.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[10]Manzoor, J., Waleed, A., Jamali, A. F., &amp; Masood, A.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on a Budget: Evaluating Security and Performance of Open-Source SIEM Solutions for SMEs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PLOS ONE, 19(3), e0301183.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[11]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Chincholkar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Bansal, A., Jain, S., &amp; Shah, S.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Information and Event Management (SIEM) Open Source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International Journal of Engineering Research &amp; Technology, 14(11).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[12]Cerullo, G., Formicola, V., Iamiglio, P.,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Sgaglione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Infrastructure Protection: Having SIEM Technology Cope with Network Heterogeneity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[13]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Wudali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 N.,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Kravchik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Malul, E., Gandhi, P. A.,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Elovici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Y., &amp; Shabtai, A.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Rule-ATT&amp;CK Mapper (RAM): Mapping SIEM Rules to TTPs Using LLMs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arXiv:2502.02337v1.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[14]Moussa, B., Mostafa, M., &amp; El-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Khouly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 (2014).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 Schema-Based Minification for Communication of Security Information and Event Management (SIEM) Systems in Cloud Environments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International Journal of Advanced Computer Science and Applications, 5(9), 74–82.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[15]Zhang, J., Bu, H., Wen, H., Liu, Y., Fei, H., Xi, R., Li, L., Yang, Y., Zhu, H., &amp; Meng, D.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LLMs Meet Cybersecurity: A Systematic Literature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Cybersecurity, 8, 55.</a:t>
            </a:r>
          </a:p>
        </p:txBody>
      </p:sp>
    </p:spTree>
    <p:extLst>
      <p:ext uri="{BB962C8B-B14F-4D97-AF65-F5344CB8AC3E}">
        <p14:creationId xmlns:p14="http://schemas.microsoft.com/office/powerpoint/2010/main" val="1002647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961" y="1765744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46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3845</TotalTime>
  <Words>3284</Words>
  <Application>Microsoft Office PowerPoint</Application>
  <PresentationFormat>Widescreen</PresentationFormat>
  <Paragraphs>411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Bookman Old Style</vt:lpstr>
      <vt:lpstr>Calibri</vt:lpstr>
      <vt:lpstr>Calibri Light</vt:lpstr>
      <vt:lpstr>Symbol</vt:lpstr>
      <vt:lpstr>Times New Roman</vt:lpstr>
      <vt:lpstr>Office Theme</vt:lpstr>
      <vt:lpstr>PowerPoint Presentation</vt:lpstr>
      <vt:lpstr>Contents</vt:lpstr>
      <vt:lpstr>Problem Statement</vt:lpstr>
      <vt:lpstr>Objectives </vt:lpstr>
      <vt:lpstr>Literature Survey </vt:lpstr>
      <vt:lpstr>Literature Survey </vt:lpstr>
      <vt:lpstr>Literature Survey </vt:lpstr>
      <vt:lpstr>PROPOSED METHODOLOGY </vt:lpstr>
      <vt:lpstr> Technology Stack </vt:lpstr>
      <vt:lpstr>Dataset / Input Details</vt:lpstr>
      <vt:lpstr>MODULE DESIGN </vt:lpstr>
      <vt:lpstr>Work Completed</vt:lpstr>
      <vt:lpstr>Module Implementation Status</vt:lpstr>
      <vt:lpstr>Challenges Faced &amp; Technical Solutions</vt:lpstr>
      <vt:lpstr>Work Plan &amp; Future Scope</vt:lpstr>
      <vt:lpstr>Expected Outcomes</vt:lpstr>
      <vt:lpstr>PowerPoint Presentation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DHANUSH B R</cp:lastModifiedBy>
  <cp:revision>138</cp:revision>
  <dcterms:modified xsi:type="dcterms:W3CDTF">2026-10-06T07:48:28Z</dcterms:modified>
</cp:coreProperties>
</file>